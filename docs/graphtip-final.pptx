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A03FEAC2-D3CF-43FA-B8D8-62C4198081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089DC0-B62B-46D6-BDB9-7BE69E2968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8545E71-5780-4BD6-84E2-9E504008725C}"/>
              </a:ext>
            </a:extLst>
          </p:cNvPr>
          <p:cNvSpPr>
            <a:spLocks noGrp="1"/>
          </p:cNvSpPr>
          <p:nvPr/>
        </p:nvSpPr>
        <p:spPr>
          <a:xfrm>
            <a:off x="723900" y="838200"/>
            <a:ext cx="66675" cy="46101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6D6E0E-04A2-4907-A82E-BCD24A377D8B}"/>
              </a:ext>
            </a:extLst>
          </p:cNvPr>
          <p:cNvSpPr>
            <a:spLocks noGrp="1"/>
          </p:cNvSpPr>
          <p:nvPr/>
        </p:nvSpPr>
        <p:spPr>
          <a:xfrm>
            <a:off x="1104900" y="952500"/>
            <a:ext cx="8382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123224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23224"/>
                </a:solidFill>
                <a:latin typeface="Aptos Display"/>
                <a:ea typeface="Aptos Display"/>
                <a:cs typeface="Aptos Display"/>
              </a:rPr>
              <a:t>GraphTrip 서비스 프로토타입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6742E7-223F-45B0-84E0-E2A82FA765F9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809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사용자 행동 및 키워드 기반 개인화 여행 코스 추천 서비스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1F6BAC-ABE8-4017-8840-6C613192E4C1}"/>
              </a:ext>
            </a:extLst>
          </p:cNvPr>
          <p:cNvSpPr>
            <a:spLocks noGrp="1"/>
          </p:cNvSpPr>
          <p:nvPr/>
        </p:nvSpPr>
        <p:spPr>
          <a:xfrm>
            <a:off x="1123950" y="23241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팀명  Graph Navigators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BF45671-21A6-46DC-931B-9C54A5AD78C9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51D"/>
                </a:solidFill>
                <a:latin typeface="Aptos"/>
                <a:ea typeface="Aptos"/>
                <a:cs typeface="Aptos"/>
              </a:rPr>
              <a:t>팀원  이수광 · 박종빈 · 심찬기 · 최정현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D6A932-49AC-44FB-ACCF-37B4C5D72D5E}"/>
              </a:ext>
            </a:extLst>
          </p:cNvPr>
          <p:cNvSpPr>
            <a:spLocks noGrp="1"/>
          </p:cNvSpPr>
          <p:nvPr/>
        </p:nvSpPr>
        <p:spPr>
          <a:xfrm>
            <a:off x="1123950" y="3238500"/>
            <a:ext cx="876300" cy="285750"/>
          </a:xfrm>
          <a:prstGeom prst="rect">
            <a:avLst/>
          </a:prstGeom>
          <a:solidFill>
            <a:srgbClr val="FFFFFF"/>
          </a:solidFill>
          <a:ln w="11430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5DBD3A-88EE-4B22-A2A4-FD7B1C8CA369}"/>
              </a:ext>
            </a:extLst>
          </p:cNvPr>
          <p:cNvSpPr>
            <a:spLocks noGrp="1"/>
          </p:cNvSpPr>
          <p:nvPr/>
        </p:nvSpPr>
        <p:spPr>
          <a:xfrm>
            <a:off x="1219200" y="3314700"/>
            <a:ext cx="685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Python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8D58F0-26D6-4589-9A15-F90E420E3DF0}"/>
              </a:ext>
            </a:extLst>
          </p:cNvPr>
          <p:cNvSpPr>
            <a:spLocks noGrp="1"/>
          </p:cNvSpPr>
          <p:nvPr/>
        </p:nvSpPr>
        <p:spPr>
          <a:xfrm>
            <a:off x="2152650" y="3238500"/>
            <a:ext cx="1143000" cy="285750"/>
          </a:xfrm>
          <a:prstGeom prst="rect">
            <a:avLst/>
          </a:prstGeom>
          <a:solidFill>
            <a:srgbClr val="FFFFFF"/>
          </a:solidFill>
          <a:ln w="11430">
            <a:solidFill>
              <a:srgbClr val="38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33536C-CE7C-4452-B8FD-8970EF724AFF}"/>
              </a:ext>
            </a:extLst>
          </p:cNvPr>
          <p:cNvSpPr>
            <a:spLocks noGrp="1"/>
          </p:cNvSpPr>
          <p:nvPr/>
        </p:nvSpPr>
        <p:spPr>
          <a:xfrm>
            <a:off x="2247900" y="3314700"/>
            <a:ext cx="952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386FA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386FA4"/>
                </a:solidFill>
                <a:latin typeface="Aptos"/>
                <a:ea typeface="Aptos"/>
                <a:cs typeface="Aptos"/>
              </a:rPr>
              <a:t>Streamlit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A49F49-D39F-4591-8CDD-0832FA3ECEA7}"/>
              </a:ext>
            </a:extLst>
          </p:cNvPr>
          <p:cNvSpPr>
            <a:spLocks noGrp="1"/>
          </p:cNvSpPr>
          <p:nvPr/>
        </p:nvSpPr>
        <p:spPr>
          <a:xfrm>
            <a:off x="3448050" y="3238500"/>
            <a:ext cx="914400" cy="2857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5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B78B7CE-04F3-43C0-B523-CF221496097B}"/>
              </a:ext>
            </a:extLst>
          </p:cNvPr>
          <p:cNvSpPr>
            <a:spLocks noGrp="1"/>
          </p:cNvSpPr>
          <p:nvPr/>
        </p:nvSpPr>
        <p:spPr>
          <a:xfrm>
            <a:off x="3543300" y="3314700"/>
            <a:ext cx="723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D95D4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5D47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E18C0DC-08E2-4547-8156-CAD664AD81AF}"/>
              </a:ext>
            </a:extLst>
          </p:cNvPr>
          <p:cNvSpPr>
            <a:spLocks noGrp="1"/>
          </p:cNvSpPr>
          <p:nvPr/>
        </p:nvSpPr>
        <p:spPr>
          <a:xfrm>
            <a:off x="4514850" y="3238500"/>
            <a:ext cx="1524000" cy="285750"/>
          </a:xfrm>
          <a:prstGeom prst="rect">
            <a:avLst/>
          </a:prstGeom>
          <a:solidFill>
            <a:srgbClr val="FFFFFF"/>
          </a:solidFill>
          <a:ln w="1143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70EE53-27F4-4756-A952-E56F7A7E3FCD}"/>
              </a:ext>
            </a:extLst>
          </p:cNvPr>
          <p:cNvSpPr>
            <a:spLocks noGrp="1"/>
          </p:cNvSpPr>
          <p:nvPr/>
        </p:nvSpPr>
        <p:spPr>
          <a:xfrm>
            <a:off x="4610100" y="331470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C44B827-8DE4-47D8-A9E3-1AB285DBEA42}"/>
              </a:ext>
            </a:extLst>
          </p:cNvPr>
          <p:cNvSpPr>
            <a:spLocks noGrp="1"/>
          </p:cNvSpPr>
          <p:nvPr/>
        </p:nvSpPr>
        <p:spPr>
          <a:xfrm>
            <a:off x="1123950" y="3962400"/>
            <a:ext cx="8572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좋아요 데이터, 키워드 분석, 개인화 그래프 추천, 이동 경로 최적화를 하나의 추천 파이프라인으로 연결했습니다.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26981C-DAEC-4119-96FE-A25017249051}"/>
              </a:ext>
            </a:extLst>
          </p:cNvPr>
          <p:cNvSpPr>
            <a:spLocks noGrp="1"/>
          </p:cNvSpPr>
          <p:nvPr/>
        </p:nvSpPr>
        <p:spPr>
          <a:xfrm>
            <a:off x="1123950" y="5143500"/>
            <a:ext cx="2219325" cy="952500"/>
          </a:xfrm>
          <a:prstGeom prst="rect">
            <a:avLst/>
          </a:prstGeom>
          <a:solidFill>
            <a:srgbClr val="EAF2E5"/>
          </a:solidFill>
          <a:ln w="12383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CD586A8-FB20-4D66-AE50-D6D7E437B221}"/>
              </a:ext>
            </a:extLst>
          </p:cNvPr>
          <p:cNvSpPr>
            <a:spLocks noGrp="1"/>
          </p:cNvSpPr>
          <p:nvPr/>
        </p:nvSpPr>
        <p:spPr>
          <a:xfrm>
            <a:off x="1123950" y="5143500"/>
            <a:ext cx="2219325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E8E8C59-C229-458C-955C-D62D716BE202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행동 데이터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A9E337-E1E9-4E82-8857-FD238BA32E79}"/>
              </a:ext>
            </a:extLst>
          </p:cNvPr>
          <p:cNvSpPr>
            <a:spLocks noGrp="1"/>
          </p:cNvSpPr>
          <p:nvPr/>
        </p:nvSpPr>
        <p:spPr>
          <a:xfrm>
            <a:off x="1257300" y="5715000"/>
            <a:ext cx="1952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좋아요 / 저장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29A192-2FA3-4A2C-9B59-75A91DD81964}"/>
              </a:ext>
            </a:extLst>
          </p:cNvPr>
          <p:cNvSpPr>
            <a:spLocks noGrp="1"/>
          </p:cNvSpPr>
          <p:nvPr/>
        </p:nvSpPr>
        <p:spPr>
          <a:xfrm>
            <a:off x="3362325" y="5600700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E7465F0-B448-41DA-B083-50D68AA25C9B}"/>
              </a:ext>
            </a:extLst>
          </p:cNvPr>
          <p:cNvSpPr>
            <a:spLocks noGrp="1"/>
          </p:cNvSpPr>
          <p:nvPr/>
        </p:nvSpPr>
        <p:spPr>
          <a:xfrm>
            <a:off x="3495675" y="5143500"/>
            <a:ext cx="2219325" cy="952500"/>
          </a:xfrm>
          <a:prstGeom prst="rect">
            <a:avLst/>
          </a:prstGeom>
          <a:solidFill>
            <a:srgbClr val="FBF1DA"/>
          </a:solidFill>
          <a:ln w="12383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BB9EFBA-AABC-4588-942B-4B76EED0EE11}"/>
              </a:ext>
            </a:extLst>
          </p:cNvPr>
          <p:cNvSpPr>
            <a:spLocks noGrp="1"/>
          </p:cNvSpPr>
          <p:nvPr/>
        </p:nvSpPr>
        <p:spPr>
          <a:xfrm>
            <a:off x="3495675" y="5143500"/>
            <a:ext cx="2219325" cy="7620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41C804A-58CA-4AC0-A444-D5FF0BF9D57A}"/>
              </a:ext>
            </a:extLst>
          </p:cNvPr>
          <p:cNvSpPr>
            <a:spLocks noGrp="1"/>
          </p:cNvSpPr>
          <p:nvPr/>
        </p:nvSpPr>
        <p:spPr>
          <a:xfrm>
            <a:off x="3609975" y="5353050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키워드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0EEEE69-6E83-4C71-A056-C2F810AC038E}"/>
              </a:ext>
            </a:extLst>
          </p:cNvPr>
          <p:cNvSpPr>
            <a:spLocks noGrp="1"/>
          </p:cNvSpPr>
          <p:nvPr/>
        </p:nvSpPr>
        <p:spPr>
          <a:xfrm>
            <a:off x="3629025" y="5715000"/>
            <a:ext cx="1952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TF-IDF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K-Means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47455B-5663-4F33-B4E4-4E8FBC011FC3}"/>
              </a:ext>
            </a:extLst>
          </p:cNvPr>
          <p:cNvSpPr>
            <a:spLocks noGrp="1"/>
          </p:cNvSpPr>
          <p:nvPr/>
        </p:nvSpPr>
        <p:spPr>
          <a:xfrm>
            <a:off x="5734050" y="5600700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632B373-F5D2-4FCB-BF5E-68FE36A2BE88}"/>
              </a:ext>
            </a:extLst>
          </p:cNvPr>
          <p:cNvSpPr>
            <a:spLocks noGrp="1"/>
          </p:cNvSpPr>
          <p:nvPr/>
        </p:nvSpPr>
        <p:spPr>
          <a:xfrm>
            <a:off x="5867400" y="5143500"/>
            <a:ext cx="2219325" cy="952500"/>
          </a:xfrm>
          <a:prstGeom prst="rect">
            <a:avLst/>
          </a:prstGeom>
          <a:solidFill>
            <a:srgbClr val="E9F1FA"/>
          </a:solidFill>
          <a:ln w="12383">
            <a:solidFill>
              <a:srgbClr val="38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1F09EA-F151-4CA2-8A1A-5E3C34AB044A}"/>
              </a:ext>
            </a:extLst>
          </p:cNvPr>
          <p:cNvSpPr>
            <a:spLocks noGrp="1"/>
          </p:cNvSpPr>
          <p:nvPr/>
        </p:nvSpPr>
        <p:spPr>
          <a:xfrm>
            <a:off x="5867400" y="5143500"/>
            <a:ext cx="2219325" cy="762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4F6EB99-E074-4563-B310-48509BE1CB67}"/>
              </a:ext>
            </a:extLst>
          </p:cNvPr>
          <p:cNvSpPr>
            <a:spLocks noGrp="1"/>
          </p:cNvSpPr>
          <p:nvPr/>
        </p:nvSpPr>
        <p:spPr>
          <a:xfrm>
            <a:off x="5981700" y="5353050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개인화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19BEAE-B651-4050-9D91-BDB58B8F8924}"/>
              </a:ext>
            </a:extLst>
          </p:cNvPr>
          <p:cNvSpPr>
            <a:spLocks noGrp="1"/>
          </p:cNvSpPr>
          <p:nvPr/>
        </p:nvSpPr>
        <p:spPr>
          <a:xfrm>
            <a:off x="6000750" y="5715000"/>
            <a:ext cx="1952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RWR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PageRank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150B9DC-DC8C-4B63-943F-076EA3CF7479}"/>
              </a:ext>
            </a:extLst>
          </p:cNvPr>
          <p:cNvSpPr>
            <a:spLocks noGrp="1"/>
          </p:cNvSpPr>
          <p:nvPr/>
        </p:nvSpPr>
        <p:spPr>
          <a:xfrm>
            <a:off x="8105775" y="5600700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53234AF-911E-49CB-894A-76BA3FB989D9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2219325" cy="952500"/>
          </a:xfrm>
          <a:prstGeom prst="rect">
            <a:avLst/>
          </a:prstGeom>
          <a:solidFill>
            <a:srgbClr val="FBE8E3"/>
          </a:solidFill>
          <a:ln w="12383">
            <a:solidFill>
              <a:srgbClr val="D95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E1ED413-A90C-4F31-A2E0-E6CEEDC5410F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2219325" cy="76200"/>
          </a:xfrm>
          <a:prstGeom prst="rect">
            <a:avLst/>
          </a:prstGeom>
          <a:solidFill>
            <a:srgbClr val="D95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82465C8-E225-43EE-A945-8A7C8A8B3AB7}"/>
              </a:ext>
            </a:extLst>
          </p:cNvPr>
          <p:cNvSpPr>
            <a:spLocks noGrp="1"/>
          </p:cNvSpPr>
          <p:nvPr/>
        </p:nvSpPr>
        <p:spPr>
          <a:xfrm>
            <a:off x="8353425" y="5353050"/>
            <a:ext cx="19907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코스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CB55158-4A84-4AAF-8B4F-91C064B3C855}"/>
              </a:ext>
            </a:extLst>
          </p:cNvPr>
          <p:cNvSpPr>
            <a:spLocks noGrp="1"/>
          </p:cNvSpPr>
          <p:nvPr/>
        </p:nvSpPr>
        <p:spPr>
          <a:xfrm>
            <a:off x="8372475" y="5715000"/>
            <a:ext cx="1952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Dijkstra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Greedy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9FFFEA7-0CFF-4E6C-85FB-EDAD212895E9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Algorithm final project | GraphTrip project report</a:t>
            </a:r>
          </a:p>
        </p:txBody>
      </p:sp>
    </p:spTree>
    <p:extLst>
      <p:ext uri="{BB962C8B-B14F-4D97-AF65-F5344CB8AC3E}">
        <p14:creationId xmlns:p14="http://schemas.microsoft.com/office/powerpoint/2010/main" val="1585159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직사각형 81">
            <a:extLst>
              <a:ext uri="{FF2B5EF4-FFF2-40B4-BE49-F238E27FC236}">
                <a16:creationId xmlns:a16="http://schemas.microsoft.com/office/drawing/2014/main" id="{A51610B7-DECA-4835-BD62-03EFE9993A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224C53-812C-4D12-B061-4D01C3C396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671C3A-FE88-422F-8994-24FDD67381F0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REPORT STRUCTURE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EA27DA-0EB4-42ED-AE99-D3F42A6F64F4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프로젝트 설명서 구성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5446FD-09EF-4CCF-87BD-AD9B2AD9CD60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69AC39-E5F9-4204-B1A5-2A8FF6BE9E88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9D1EE3-1BD4-4DD0-A2C4-B3BE4D665F8B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①~⑧ 대응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4F9DFE-32A6-4D95-9E36-3521572C1498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903BFA-2B8C-451E-83AD-BF35C62A73DB}"/>
              </a:ext>
            </a:extLst>
          </p:cNvPr>
          <p:cNvSpPr>
            <a:spLocks noGrp="1"/>
          </p:cNvSpPr>
          <p:nvPr/>
        </p:nvSpPr>
        <p:spPr>
          <a:xfrm>
            <a:off x="571500" y="1447800"/>
            <a:ext cx="3429000" cy="12382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0C5F48-D8C7-44EA-94A2-752260DA9299}"/>
              </a:ext>
            </a:extLst>
          </p:cNvPr>
          <p:cNvSpPr>
            <a:spLocks noGrp="1"/>
          </p:cNvSpPr>
          <p:nvPr/>
        </p:nvSpPr>
        <p:spPr>
          <a:xfrm>
            <a:off x="571500" y="1447800"/>
            <a:ext cx="66675" cy="123825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C3AB96-A6DA-4C96-99B3-9340E234A792}"/>
              </a:ext>
            </a:extLst>
          </p:cNvPr>
          <p:cNvSpPr>
            <a:spLocks noGrp="1"/>
          </p:cNvSpPr>
          <p:nvPr/>
        </p:nvSpPr>
        <p:spPr>
          <a:xfrm>
            <a:off x="762000" y="1600200"/>
            <a:ext cx="30861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구성 방향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AAC234-E6DC-4767-8710-4E609941798E}"/>
              </a:ext>
            </a:extLst>
          </p:cNvPr>
          <p:cNvSpPr>
            <a:spLocks noGrp="1"/>
          </p:cNvSpPr>
          <p:nvPr/>
        </p:nvSpPr>
        <p:spPr>
          <a:xfrm>
            <a:off x="762000" y="1924050"/>
            <a:ext cx="3086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문제 정의, 데이터, 알고리즘, 구현 방식, 결과, PMI 순서로 프로젝트 내용을 정리했습니다.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6A32A3-E506-4CAB-8D53-E760EEEDA995}"/>
              </a:ext>
            </a:extLst>
          </p:cNvPr>
          <p:cNvSpPr>
            <a:spLocks noGrp="1"/>
          </p:cNvSpPr>
          <p:nvPr/>
        </p:nvSpPr>
        <p:spPr>
          <a:xfrm>
            <a:off x="4381500" y="1447800"/>
            <a:ext cx="3429000" cy="12382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DCB8B3-CC98-4DC8-BD9D-E582F834D652}"/>
              </a:ext>
            </a:extLst>
          </p:cNvPr>
          <p:cNvSpPr>
            <a:spLocks noGrp="1"/>
          </p:cNvSpPr>
          <p:nvPr/>
        </p:nvSpPr>
        <p:spPr>
          <a:xfrm>
            <a:off x="4381500" y="1447800"/>
            <a:ext cx="66675" cy="123825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8AA020-002B-4EBB-97E5-241D257F6E46}"/>
              </a:ext>
            </a:extLst>
          </p:cNvPr>
          <p:cNvSpPr>
            <a:spLocks noGrp="1"/>
          </p:cNvSpPr>
          <p:nvPr/>
        </p:nvSpPr>
        <p:spPr>
          <a:xfrm>
            <a:off x="4572000" y="1600200"/>
            <a:ext cx="30861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핵심 강조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85F2769-8EC0-4CB8-B79B-9CC547BD3D7E}"/>
              </a:ext>
            </a:extLst>
          </p:cNvPr>
          <p:cNvSpPr>
            <a:spLocks noGrp="1"/>
          </p:cNvSpPr>
          <p:nvPr/>
        </p:nvSpPr>
        <p:spPr>
          <a:xfrm>
            <a:off x="4572000" y="1924050"/>
            <a:ext cx="3086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UI 기능 설명은 줄이고, 자료구조와 알고리즘이 어느 단계에서 왜 쓰였는지에 집중합니다.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9203D3-5FF4-4E5E-A96D-3BA6F12D95CD}"/>
              </a:ext>
            </a:extLst>
          </p:cNvPr>
          <p:cNvSpPr>
            <a:spLocks noGrp="1"/>
          </p:cNvSpPr>
          <p:nvPr/>
        </p:nvSpPr>
        <p:spPr>
          <a:xfrm>
            <a:off x="8191500" y="1447800"/>
            <a:ext cx="3429000" cy="12382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2E3CEC-09F1-4B11-9C29-830890A91332}"/>
              </a:ext>
            </a:extLst>
          </p:cNvPr>
          <p:cNvSpPr>
            <a:spLocks noGrp="1"/>
          </p:cNvSpPr>
          <p:nvPr/>
        </p:nvSpPr>
        <p:spPr>
          <a:xfrm>
            <a:off x="8191500" y="1447800"/>
            <a:ext cx="66675" cy="123825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E3DFB26-A6D7-4D61-A681-13A8BA71C0D3}"/>
              </a:ext>
            </a:extLst>
          </p:cNvPr>
          <p:cNvSpPr>
            <a:spLocks noGrp="1"/>
          </p:cNvSpPr>
          <p:nvPr/>
        </p:nvSpPr>
        <p:spPr>
          <a:xfrm>
            <a:off x="8382000" y="1600200"/>
            <a:ext cx="30861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제출 항목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2D9AD6D-05B0-4CE5-9129-A84CCFE7F9F3}"/>
              </a:ext>
            </a:extLst>
          </p:cNvPr>
          <p:cNvSpPr>
            <a:spLocks noGrp="1"/>
          </p:cNvSpPr>
          <p:nvPr/>
        </p:nvSpPr>
        <p:spPr>
          <a:xfrm>
            <a:off x="8382000" y="1924050"/>
            <a:ext cx="3086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프로토타입 제목, 설명, 업무 분장, 입력 데이터, 알고리즘, 구현 방식, 결과 화면, PMI를 포함했습니다.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84B06B7-B910-4F48-8D3A-F3A657504C65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21920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18E24E-733C-4120-B066-A499514E8C59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1066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항목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526B80-493A-4E95-A1B1-E1E24D17AE79}"/>
              </a:ext>
            </a:extLst>
          </p:cNvPr>
          <p:cNvSpPr>
            <a:spLocks noGrp="1"/>
          </p:cNvSpPr>
          <p:nvPr/>
        </p:nvSpPr>
        <p:spPr>
          <a:xfrm>
            <a:off x="2000250" y="3009900"/>
            <a:ext cx="377190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63AD91C-8CDB-4238-9CF4-9FC7B5D065ED}"/>
              </a:ext>
            </a:extLst>
          </p:cNvPr>
          <p:cNvSpPr>
            <a:spLocks noGrp="1"/>
          </p:cNvSpPr>
          <p:nvPr/>
        </p:nvSpPr>
        <p:spPr>
          <a:xfrm>
            <a:off x="2076450" y="3105150"/>
            <a:ext cx="3619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포함 내용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4CADFD-8ACD-4E2C-82E9-2302A364106E}"/>
              </a:ext>
            </a:extLst>
          </p:cNvPr>
          <p:cNvSpPr>
            <a:spLocks noGrp="1"/>
          </p:cNvSpPr>
          <p:nvPr/>
        </p:nvSpPr>
        <p:spPr>
          <a:xfrm>
            <a:off x="5772150" y="3009900"/>
            <a:ext cx="537210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78D352-6128-4BF7-8A23-E88E97607DF9}"/>
              </a:ext>
            </a:extLst>
          </p:cNvPr>
          <p:cNvSpPr>
            <a:spLocks noGrp="1"/>
          </p:cNvSpPr>
          <p:nvPr/>
        </p:nvSpPr>
        <p:spPr>
          <a:xfrm>
            <a:off x="5848350" y="3105150"/>
            <a:ext cx="5219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슬라이드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62B4A46-ECA7-4DBC-939A-4FBECE77D98F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12192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03D6729-76AE-48B3-A296-A23E8753732E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C7AF44-2334-480E-9C27-B8063A8C4118}"/>
              </a:ext>
            </a:extLst>
          </p:cNvPr>
          <p:cNvSpPr>
            <a:spLocks noGrp="1"/>
          </p:cNvSpPr>
          <p:nvPr/>
        </p:nvSpPr>
        <p:spPr>
          <a:xfrm>
            <a:off x="2000250" y="3333750"/>
            <a:ext cx="37719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647B1A6-7C3E-4543-8240-ED0B67E4B901}"/>
              </a:ext>
            </a:extLst>
          </p:cNvPr>
          <p:cNvSpPr>
            <a:spLocks noGrp="1"/>
          </p:cNvSpPr>
          <p:nvPr/>
        </p:nvSpPr>
        <p:spPr>
          <a:xfrm>
            <a:off x="2076450" y="34099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프로토타입 제목, 팀명, 팀원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71B10BD-A5C8-4E65-9DCD-351AEC9D1811}"/>
              </a:ext>
            </a:extLst>
          </p:cNvPr>
          <p:cNvSpPr>
            <a:spLocks noGrp="1"/>
          </p:cNvSpPr>
          <p:nvPr/>
        </p:nvSpPr>
        <p:spPr>
          <a:xfrm>
            <a:off x="5772150" y="3333750"/>
            <a:ext cx="53721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BBCBCFE-37FE-40AC-87C5-044A3FB843B5}"/>
              </a:ext>
            </a:extLst>
          </p:cNvPr>
          <p:cNvSpPr>
            <a:spLocks noGrp="1"/>
          </p:cNvSpPr>
          <p:nvPr/>
        </p:nvSpPr>
        <p:spPr>
          <a:xfrm>
            <a:off x="5848350" y="3409950"/>
            <a:ext cx="521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3E660E7-6367-415B-9B7D-ED9F808553F5}"/>
              </a:ext>
            </a:extLst>
          </p:cNvPr>
          <p:cNvSpPr>
            <a:spLocks noGrp="1"/>
          </p:cNvSpPr>
          <p:nvPr/>
        </p:nvSpPr>
        <p:spPr>
          <a:xfrm>
            <a:off x="781050" y="3638550"/>
            <a:ext cx="12192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EB34AFB-A040-44E2-9158-50681C724B0F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②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FAD6DCC-3B8D-401A-BD70-91959216DE44}"/>
              </a:ext>
            </a:extLst>
          </p:cNvPr>
          <p:cNvSpPr>
            <a:spLocks noGrp="1"/>
          </p:cNvSpPr>
          <p:nvPr/>
        </p:nvSpPr>
        <p:spPr>
          <a:xfrm>
            <a:off x="2000250" y="3638550"/>
            <a:ext cx="37719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380928B-277F-4D5D-994F-49C2B5539972}"/>
              </a:ext>
            </a:extLst>
          </p:cNvPr>
          <p:cNvSpPr>
            <a:spLocks noGrp="1"/>
          </p:cNvSpPr>
          <p:nvPr/>
        </p:nvSpPr>
        <p:spPr>
          <a:xfrm>
            <a:off x="2076450" y="37147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What / Who / When / Why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8C44D7-F149-45A8-9ACE-13CDA21AA37C}"/>
              </a:ext>
            </a:extLst>
          </p:cNvPr>
          <p:cNvSpPr>
            <a:spLocks noGrp="1"/>
          </p:cNvSpPr>
          <p:nvPr/>
        </p:nvSpPr>
        <p:spPr>
          <a:xfrm>
            <a:off x="5772150" y="3638550"/>
            <a:ext cx="53721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066FEBB-B792-4F51-BE41-5945859924D2}"/>
              </a:ext>
            </a:extLst>
          </p:cNvPr>
          <p:cNvSpPr>
            <a:spLocks noGrp="1"/>
          </p:cNvSpPr>
          <p:nvPr/>
        </p:nvSpPr>
        <p:spPr>
          <a:xfrm>
            <a:off x="5848350" y="3714750"/>
            <a:ext cx="521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E155D4F-6EC3-4714-B9DC-2FAF4D6B7471}"/>
              </a:ext>
            </a:extLst>
          </p:cNvPr>
          <p:cNvSpPr>
            <a:spLocks noGrp="1"/>
          </p:cNvSpPr>
          <p:nvPr/>
        </p:nvSpPr>
        <p:spPr>
          <a:xfrm>
            <a:off x="781050" y="3943350"/>
            <a:ext cx="12192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EB8CE1F-7A04-433F-82C6-8A62EBA7D9CC}"/>
              </a:ext>
            </a:extLst>
          </p:cNvPr>
          <p:cNvSpPr>
            <a:spLocks noGrp="1"/>
          </p:cNvSpPr>
          <p:nvPr/>
        </p:nvSpPr>
        <p:spPr>
          <a:xfrm>
            <a:off x="857250" y="4019550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③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FD68602-82B6-4FFF-9822-73D325F3DF77}"/>
              </a:ext>
            </a:extLst>
          </p:cNvPr>
          <p:cNvSpPr>
            <a:spLocks noGrp="1"/>
          </p:cNvSpPr>
          <p:nvPr/>
        </p:nvSpPr>
        <p:spPr>
          <a:xfrm>
            <a:off x="2000250" y="3943350"/>
            <a:ext cx="37719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40BC534-F971-4C28-92EB-2F737ABF8282}"/>
              </a:ext>
            </a:extLst>
          </p:cNvPr>
          <p:cNvSpPr>
            <a:spLocks noGrp="1"/>
          </p:cNvSpPr>
          <p:nvPr/>
        </p:nvSpPr>
        <p:spPr>
          <a:xfrm>
            <a:off x="2076450" y="40195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업무 분장과 담당 알고리즘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387C2D2-89B2-4873-A7F0-7B6B19F3FF89}"/>
              </a:ext>
            </a:extLst>
          </p:cNvPr>
          <p:cNvSpPr>
            <a:spLocks noGrp="1"/>
          </p:cNvSpPr>
          <p:nvPr/>
        </p:nvSpPr>
        <p:spPr>
          <a:xfrm>
            <a:off x="5772150" y="3943350"/>
            <a:ext cx="53721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04D0E04-A43B-4D8D-A888-FA9999E73B13}"/>
              </a:ext>
            </a:extLst>
          </p:cNvPr>
          <p:cNvSpPr>
            <a:spLocks noGrp="1"/>
          </p:cNvSpPr>
          <p:nvPr/>
        </p:nvSpPr>
        <p:spPr>
          <a:xfrm>
            <a:off x="5848350" y="4019550"/>
            <a:ext cx="521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75809CA-D7AA-4515-86BB-F1F01ADD828A}"/>
              </a:ext>
            </a:extLst>
          </p:cNvPr>
          <p:cNvSpPr>
            <a:spLocks noGrp="1"/>
          </p:cNvSpPr>
          <p:nvPr/>
        </p:nvSpPr>
        <p:spPr>
          <a:xfrm>
            <a:off x="781050" y="4248150"/>
            <a:ext cx="12192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2DF972-F7D1-463A-B5B6-6B62920E9112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④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F81BAA3-968A-48F7-9060-799D81043F9F}"/>
              </a:ext>
            </a:extLst>
          </p:cNvPr>
          <p:cNvSpPr>
            <a:spLocks noGrp="1"/>
          </p:cNvSpPr>
          <p:nvPr/>
        </p:nvSpPr>
        <p:spPr>
          <a:xfrm>
            <a:off x="2000250" y="4248150"/>
            <a:ext cx="37719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D556979-0E3C-45CF-9696-8DEAD6DE9847}"/>
              </a:ext>
            </a:extLst>
          </p:cNvPr>
          <p:cNvSpPr>
            <a:spLocks noGrp="1"/>
          </p:cNvSpPr>
          <p:nvPr/>
        </p:nvSpPr>
        <p:spPr>
          <a:xfrm>
            <a:off x="2076450" y="43243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Input 데이터 모양과 출처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5ED2B01-B3F5-4F62-AE14-86A60B9AEFD4}"/>
              </a:ext>
            </a:extLst>
          </p:cNvPr>
          <p:cNvSpPr>
            <a:spLocks noGrp="1"/>
          </p:cNvSpPr>
          <p:nvPr/>
        </p:nvSpPr>
        <p:spPr>
          <a:xfrm>
            <a:off x="5772150" y="4248150"/>
            <a:ext cx="53721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BBA7282-4BC4-4E8A-9CD3-68B6835C119F}"/>
              </a:ext>
            </a:extLst>
          </p:cNvPr>
          <p:cNvSpPr>
            <a:spLocks noGrp="1"/>
          </p:cNvSpPr>
          <p:nvPr/>
        </p:nvSpPr>
        <p:spPr>
          <a:xfrm>
            <a:off x="5848350" y="4324350"/>
            <a:ext cx="521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4, 15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8452C21-9AAB-488C-B8DA-C6AB67E5E38D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2192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04E96A6-0004-4518-89BF-0E417989FF2C}"/>
              </a:ext>
            </a:extLst>
          </p:cNvPr>
          <p:cNvSpPr>
            <a:spLocks noGrp="1"/>
          </p:cNvSpPr>
          <p:nvPr/>
        </p:nvSpPr>
        <p:spPr>
          <a:xfrm>
            <a:off x="857250" y="4629150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⑤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CE745A5-43E2-4E17-9C5F-EB5B9A7E5D65}"/>
              </a:ext>
            </a:extLst>
          </p:cNvPr>
          <p:cNvSpPr>
            <a:spLocks noGrp="1"/>
          </p:cNvSpPr>
          <p:nvPr/>
        </p:nvSpPr>
        <p:spPr>
          <a:xfrm>
            <a:off x="2000250" y="4552950"/>
            <a:ext cx="37719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036B0E4-134C-413C-BD5E-FEA79C5EF725}"/>
              </a:ext>
            </a:extLst>
          </p:cNvPr>
          <p:cNvSpPr>
            <a:spLocks noGrp="1"/>
          </p:cNvSpPr>
          <p:nvPr/>
        </p:nvSpPr>
        <p:spPr>
          <a:xfrm>
            <a:off x="2076450" y="46291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자료구조와 알고리즘 사용 위치 및 이유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AD08EF0-1807-476A-803C-00A648837BB3}"/>
              </a:ext>
            </a:extLst>
          </p:cNvPr>
          <p:cNvSpPr>
            <a:spLocks noGrp="1"/>
          </p:cNvSpPr>
          <p:nvPr/>
        </p:nvSpPr>
        <p:spPr>
          <a:xfrm>
            <a:off x="5772150" y="4552950"/>
            <a:ext cx="53721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8608F13-A7C9-4085-A576-6F3608E91B83}"/>
              </a:ext>
            </a:extLst>
          </p:cNvPr>
          <p:cNvSpPr>
            <a:spLocks noGrp="1"/>
          </p:cNvSpPr>
          <p:nvPr/>
        </p:nvSpPr>
        <p:spPr>
          <a:xfrm>
            <a:off x="5848350" y="4629150"/>
            <a:ext cx="521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6~10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C66EBF5-2A28-499D-878A-8AD21112A494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12192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54E31E0-3F7E-4462-B34B-F67CCF7A8CF3}"/>
              </a:ext>
            </a:extLst>
          </p:cNvPr>
          <p:cNvSpPr>
            <a:spLocks noGrp="1"/>
          </p:cNvSpPr>
          <p:nvPr/>
        </p:nvSpPr>
        <p:spPr>
          <a:xfrm>
            <a:off x="857250" y="4933950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⑥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DFAE111-97BF-476F-8143-B08EEDBE7793}"/>
              </a:ext>
            </a:extLst>
          </p:cNvPr>
          <p:cNvSpPr>
            <a:spLocks noGrp="1"/>
          </p:cNvSpPr>
          <p:nvPr/>
        </p:nvSpPr>
        <p:spPr>
          <a:xfrm>
            <a:off x="2000250" y="4857750"/>
            <a:ext cx="37719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25ACF83-5948-49A7-A743-F3309EC18626}"/>
              </a:ext>
            </a:extLst>
          </p:cNvPr>
          <p:cNvSpPr>
            <a:spLocks noGrp="1"/>
          </p:cNvSpPr>
          <p:nvPr/>
        </p:nvSpPr>
        <p:spPr>
          <a:xfrm>
            <a:off x="2076450" y="49339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Architecture, 동작 방식, 핵심 코드 흐름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5E3F673-3EFD-4116-8BAB-CFDA79AE388F}"/>
              </a:ext>
            </a:extLst>
          </p:cNvPr>
          <p:cNvSpPr>
            <a:spLocks noGrp="1"/>
          </p:cNvSpPr>
          <p:nvPr/>
        </p:nvSpPr>
        <p:spPr>
          <a:xfrm>
            <a:off x="5772150" y="4857750"/>
            <a:ext cx="53721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A468703-B77B-4E23-A270-01290FD36D8D}"/>
              </a:ext>
            </a:extLst>
          </p:cNvPr>
          <p:cNvSpPr>
            <a:spLocks noGrp="1"/>
          </p:cNvSpPr>
          <p:nvPr/>
        </p:nvSpPr>
        <p:spPr>
          <a:xfrm>
            <a:off x="5848350" y="4933950"/>
            <a:ext cx="521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5, 11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1E51E77-5602-42C5-B74A-B9A20C5AE354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12192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42AE86D-79BF-4C11-8E3D-E108666A4AB3}"/>
              </a:ext>
            </a:extLst>
          </p:cNvPr>
          <p:cNvSpPr>
            <a:spLocks noGrp="1"/>
          </p:cNvSpPr>
          <p:nvPr/>
        </p:nvSpPr>
        <p:spPr>
          <a:xfrm>
            <a:off x="857250" y="5238750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⑦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8CE538F-9040-417D-ABBB-4E7E7CE6AC49}"/>
              </a:ext>
            </a:extLst>
          </p:cNvPr>
          <p:cNvSpPr>
            <a:spLocks noGrp="1"/>
          </p:cNvSpPr>
          <p:nvPr/>
        </p:nvSpPr>
        <p:spPr>
          <a:xfrm>
            <a:off x="2000250" y="5162550"/>
            <a:ext cx="37719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34482A1-837A-454F-B51D-4B7E11611B05}"/>
              </a:ext>
            </a:extLst>
          </p:cNvPr>
          <p:cNvSpPr>
            <a:spLocks noGrp="1"/>
          </p:cNvSpPr>
          <p:nvPr/>
        </p:nvSpPr>
        <p:spPr>
          <a:xfrm>
            <a:off x="2076450" y="52387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최종 실행 결과 화면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B0D2325-583A-4FA6-B7BA-0F3C310E0FC2}"/>
              </a:ext>
            </a:extLst>
          </p:cNvPr>
          <p:cNvSpPr>
            <a:spLocks noGrp="1"/>
          </p:cNvSpPr>
          <p:nvPr/>
        </p:nvSpPr>
        <p:spPr>
          <a:xfrm>
            <a:off x="5772150" y="5162550"/>
            <a:ext cx="53721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C3E24CE-1B46-41CC-90A5-ED66F1862074}"/>
              </a:ext>
            </a:extLst>
          </p:cNvPr>
          <p:cNvSpPr>
            <a:spLocks noGrp="1"/>
          </p:cNvSpPr>
          <p:nvPr/>
        </p:nvSpPr>
        <p:spPr>
          <a:xfrm>
            <a:off x="5848350" y="5238750"/>
            <a:ext cx="521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F1F32BF-AC78-4F09-AAE7-09ABBFD3D4D1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12192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015F45A-7BBF-49B4-A317-19612E0B00B3}"/>
              </a:ext>
            </a:extLst>
          </p:cNvPr>
          <p:cNvSpPr>
            <a:spLocks noGrp="1"/>
          </p:cNvSpPr>
          <p:nvPr/>
        </p:nvSpPr>
        <p:spPr>
          <a:xfrm>
            <a:off x="857250" y="5543550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⑧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5E00C49-59D5-4811-94DE-55FA8A29B718}"/>
              </a:ext>
            </a:extLst>
          </p:cNvPr>
          <p:cNvSpPr>
            <a:spLocks noGrp="1"/>
          </p:cNvSpPr>
          <p:nvPr/>
        </p:nvSpPr>
        <p:spPr>
          <a:xfrm>
            <a:off x="2000250" y="5467350"/>
            <a:ext cx="37719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87EDB80-05FA-4E0B-8D78-11C5659D32F2}"/>
              </a:ext>
            </a:extLst>
          </p:cNvPr>
          <p:cNvSpPr>
            <a:spLocks noGrp="1"/>
          </p:cNvSpPr>
          <p:nvPr/>
        </p:nvSpPr>
        <p:spPr>
          <a:xfrm>
            <a:off x="2076450" y="55435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Lessons learned PMI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F4E8D78-D6D0-428B-9D65-004985E683C7}"/>
              </a:ext>
            </a:extLst>
          </p:cNvPr>
          <p:cNvSpPr>
            <a:spLocks noGrp="1"/>
          </p:cNvSpPr>
          <p:nvPr/>
        </p:nvSpPr>
        <p:spPr>
          <a:xfrm>
            <a:off x="5772150" y="5467350"/>
            <a:ext cx="5372100" cy="3048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CE54706-7D30-49B4-AC77-D4E230D6DC42}"/>
              </a:ext>
            </a:extLst>
          </p:cNvPr>
          <p:cNvSpPr>
            <a:spLocks noGrp="1"/>
          </p:cNvSpPr>
          <p:nvPr/>
        </p:nvSpPr>
        <p:spPr>
          <a:xfrm>
            <a:off x="5848350" y="5543550"/>
            <a:ext cx="521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B9ED724-8DAC-4517-BE3F-F2506DC833A4}"/>
              </a:ext>
            </a:extLst>
          </p:cNvPr>
          <p:cNvSpPr>
            <a:spLocks noGrp="1"/>
          </p:cNvSpPr>
          <p:nvPr/>
        </p:nvSpPr>
        <p:spPr>
          <a:xfrm>
            <a:off x="781050" y="5772150"/>
            <a:ext cx="12192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D23FD37-093E-445B-9C3D-7B7332FCE932}"/>
              </a:ext>
            </a:extLst>
          </p:cNvPr>
          <p:cNvSpPr>
            <a:spLocks noGrp="1"/>
          </p:cNvSpPr>
          <p:nvPr/>
        </p:nvSpPr>
        <p:spPr>
          <a:xfrm>
            <a:off x="857250" y="5848350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추가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7503A21-D912-4CDA-B268-917D00699D2B}"/>
              </a:ext>
            </a:extLst>
          </p:cNvPr>
          <p:cNvSpPr>
            <a:spLocks noGrp="1"/>
          </p:cNvSpPr>
          <p:nvPr/>
        </p:nvSpPr>
        <p:spPr>
          <a:xfrm>
            <a:off x="2000250" y="5772150"/>
            <a:ext cx="37719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0267CBD-4153-4AF5-840B-C9CC0F6B1D7D}"/>
              </a:ext>
            </a:extLst>
          </p:cNvPr>
          <p:cNvSpPr>
            <a:spLocks noGrp="1"/>
          </p:cNvSpPr>
          <p:nvPr/>
        </p:nvSpPr>
        <p:spPr>
          <a:xfrm>
            <a:off x="2076450" y="584835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프로토타입 한계점과 보완 방향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F89A6B0-5497-44D4-B600-4E0FBC23FA1F}"/>
              </a:ext>
            </a:extLst>
          </p:cNvPr>
          <p:cNvSpPr>
            <a:spLocks noGrp="1"/>
          </p:cNvSpPr>
          <p:nvPr/>
        </p:nvSpPr>
        <p:spPr>
          <a:xfrm>
            <a:off x="5772150" y="5772150"/>
            <a:ext cx="5372100" cy="30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A202947-182A-4071-B451-105CD180F55C}"/>
              </a:ext>
            </a:extLst>
          </p:cNvPr>
          <p:cNvSpPr>
            <a:spLocks noGrp="1"/>
          </p:cNvSpPr>
          <p:nvPr/>
        </p:nvSpPr>
        <p:spPr>
          <a:xfrm>
            <a:off x="5848350" y="5848350"/>
            <a:ext cx="521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A28294B-DA3C-4E32-B1FE-011B29F117D8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Graph Navigators | GraphTrip 기말 프로젝트</a:t>
            </a:r>
          </a:p>
        </p:txBody>
      </p:sp>
    </p:spTree>
    <p:extLst>
      <p:ext uri="{BB962C8B-B14F-4D97-AF65-F5344CB8AC3E}">
        <p14:creationId xmlns:p14="http://schemas.microsoft.com/office/powerpoint/2010/main" val="669838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0725F025-4A27-4DBC-A324-05B4E33E21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00F5B5-D14E-4660-8545-647DC1621A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EC6803-3947-4E68-B1FD-4FE5AC7B1E7A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PROTOTYPE DESCRIPTION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184AE9-239D-4FC5-9E06-64D6FDC85DD2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GraphTrip은 인기순이 아니라 취향과 동선을 함께 봅니다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DC4FF0A-1FB7-46E0-A6FE-F5098575CDA7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E32E30-B655-493F-A33C-B36DA579194D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8493CF-67FE-429D-82B0-4099DAB6FB7A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②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99722A-4673-4578-8150-436721D61563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7675B0-98BB-4FD2-85A8-64DC530A774D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4972050" cy="18097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6ED28F-3C06-4BBE-B2A8-255695F30010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66675" cy="180975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75190E-8980-497E-94FB-F02FD49B111D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4629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What: 무엇을 하는가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E996A6-3646-47BA-A228-88BA5037A581}"/>
              </a:ext>
            </a:extLst>
          </p:cNvPr>
          <p:cNvSpPr>
            <a:spLocks noGrp="1"/>
          </p:cNvSpPr>
          <p:nvPr/>
        </p:nvSpPr>
        <p:spPr>
          <a:xfrm>
            <a:off x="914400" y="1943100"/>
            <a:ext cx="46291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사용자의 좋아요/저장 데이터와 키워드 선호를 기반으로 여행 장소를 추천하고, 추천 장소를 이동 거리 기준의 하나의 코스로 정렬합니다.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E39E083-E60C-4D3C-8498-EACE57956A75}"/>
              </a:ext>
            </a:extLst>
          </p:cNvPr>
          <p:cNvSpPr>
            <a:spLocks noGrp="1"/>
          </p:cNvSpPr>
          <p:nvPr/>
        </p:nvSpPr>
        <p:spPr>
          <a:xfrm>
            <a:off x="6496050" y="1466850"/>
            <a:ext cx="4972050" cy="18097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005E03-66C8-4B2A-B960-1818AA3823E9}"/>
              </a:ext>
            </a:extLst>
          </p:cNvPr>
          <p:cNvSpPr>
            <a:spLocks noGrp="1"/>
          </p:cNvSpPr>
          <p:nvPr/>
        </p:nvSpPr>
        <p:spPr>
          <a:xfrm>
            <a:off x="6496050" y="1466850"/>
            <a:ext cx="66675" cy="180975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25F9D2-3C96-42D4-8EB1-3E8F12791F7F}"/>
              </a:ext>
            </a:extLst>
          </p:cNvPr>
          <p:cNvSpPr>
            <a:spLocks noGrp="1"/>
          </p:cNvSpPr>
          <p:nvPr/>
        </p:nvSpPr>
        <p:spPr>
          <a:xfrm>
            <a:off x="6686550" y="1619250"/>
            <a:ext cx="4629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Who: 누구를 위한 서비스인가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05B5CD-A05D-40A7-BF46-5B4131020B56}"/>
              </a:ext>
            </a:extLst>
          </p:cNvPr>
          <p:cNvSpPr>
            <a:spLocks noGrp="1"/>
          </p:cNvSpPr>
          <p:nvPr/>
        </p:nvSpPr>
        <p:spPr>
          <a:xfrm>
            <a:off x="6686550" y="1943100"/>
            <a:ext cx="46291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여행 계획을 쉽게 세우고 싶은 사용자, 처음 방문하는 지역에서 개인 취향에 맞는 장소와 효율적인 동선을 원하는 사용자입니다.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E335F42-BDD1-4391-85A6-3D210283A630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4972050" cy="18097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C6B7898-3CC2-4989-B8AA-838D7B8ED1B3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66675" cy="180975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9AB1CE3-67C1-4942-B94F-74AF75D93B21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4629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When: 언제 사용하는가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B05B04F-4F8F-47C8-A5C3-DE3809ABE14C}"/>
              </a:ext>
            </a:extLst>
          </p:cNvPr>
          <p:cNvSpPr>
            <a:spLocks noGrp="1"/>
          </p:cNvSpPr>
          <p:nvPr/>
        </p:nvSpPr>
        <p:spPr>
          <a:xfrm>
            <a:off x="914400" y="4248150"/>
            <a:ext cx="46291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여행을 계획할 때, 주말 나들이 코스를 찾을 때, 특정 장소 방문 후 비슷한 분위기의 장소를 찾고 싶을 때 사용합니다.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23B81BB-FC23-4F80-9442-5BBB637CFB00}"/>
              </a:ext>
            </a:extLst>
          </p:cNvPr>
          <p:cNvSpPr>
            <a:spLocks noGrp="1"/>
          </p:cNvSpPr>
          <p:nvPr/>
        </p:nvSpPr>
        <p:spPr>
          <a:xfrm>
            <a:off x="6496050" y="3771900"/>
            <a:ext cx="4972050" cy="18097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A499B05-64F7-4FC8-A1EB-9CDD7C30C092}"/>
              </a:ext>
            </a:extLst>
          </p:cNvPr>
          <p:cNvSpPr>
            <a:spLocks noGrp="1"/>
          </p:cNvSpPr>
          <p:nvPr/>
        </p:nvSpPr>
        <p:spPr>
          <a:xfrm>
            <a:off x="6496050" y="3771900"/>
            <a:ext cx="66675" cy="1809750"/>
          </a:xfrm>
          <a:prstGeom prst="rect">
            <a:avLst/>
          </a:prstGeom>
          <a:solidFill>
            <a:srgbClr val="D95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0D022A-3112-4ED6-831B-59118FBE1C52}"/>
              </a:ext>
            </a:extLst>
          </p:cNvPr>
          <p:cNvSpPr>
            <a:spLocks noGrp="1"/>
          </p:cNvSpPr>
          <p:nvPr/>
        </p:nvSpPr>
        <p:spPr>
          <a:xfrm>
            <a:off x="6686550" y="3924300"/>
            <a:ext cx="4629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Why: 왜 필요한가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FEB8BF-BD78-4610-BC6B-F6D6771BE190}"/>
              </a:ext>
            </a:extLst>
          </p:cNvPr>
          <p:cNvSpPr>
            <a:spLocks noGrp="1"/>
          </p:cNvSpPr>
          <p:nvPr/>
        </p:nvSpPr>
        <p:spPr>
          <a:xfrm>
            <a:off x="6686550" y="4248150"/>
            <a:ext cx="46291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기존 서비스는 인기순/지역순 추천이 많아 개인 취향을 충분히 반영하지 못합니다. GraphTrip은 행동 데이터, 키워드, 그래프 추천, 거리 최적화를 함께 활용합니다.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AD8CF37-9946-44C6-BB53-91844F89B3AB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Prototype definition based on team project notes</a:t>
            </a:r>
          </a:p>
        </p:txBody>
      </p:sp>
    </p:spTree>
    <p:extLst>
      <p:ext uri="{BB962C8B-B14F-4D97-AF65-F5344CB8AC3E}">
        <p14:creationId xmlns:p14="http://schemas.microsoft.com/office/powerpoint/2010/main" val="133927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5C0067FD-5EC6-4F83-9C68-1C1AF97014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57EBA0-FB58-42D3-96B9-3DA864D3AA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65C92A-FBAB-4280-8577-839E4C5DB070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INPUT DATA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0F731D-E0A9-4985-A1BE-C9758E946947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모든 모듈은 장소 ID를 공통 키로 연결됩니다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9A585C-24A7-4D7A-A959-ED88A4962409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45F954-EE2D-4254-BA1C-17A6ADBEE257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FA759A-6228-4C0C-8105-0CDA0A522B07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④ 데이터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A82D01-F7C1-4054-B488-21CA80B6AB39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6F384F-AC90-43FE-B774-CAB5E27043AD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3333750" cy="14859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9F4807-8742-40A3-88C4-5D80ED71ECE2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66675" cy="14859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6F893C4-C0C6-482F-8C3C-BA072CBC040E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2990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places.json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A43BD3-DB59-4157-9C9D-690EABC129EB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29908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장소 ID, 장소명, 위도(lat), 경도(lng), 키워드 리스트를 저장합니다. 키워드 분석, 개인화 추천, 경로 최적화가 모두 이 데이터를 사용합니다.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19E1232-FED0-4343-B019-B4BDE11580E9}"/>
              </a:ext>
            </a:extLst>
          </p:cNvPr>
          <p:cNvSpPr>
            <a:spLocks noGrp="1"/>
          </p:cNvSpPr>
          <p:nvPr/>
        </p:nvSpPr>
        <p:spPr>
          <a:xfrm>
            <a:off x="4429125" y="1428750"/>
            <a:ext cx="3333750" cy="14859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153A44-E79D-4D6C-89F3-6E5DBDCE3AD8}"/>
              </a:ext>
            </a:extLst>
          </p:cNvPr>
          <p:cNvSpPr>
            <a:spLocks noGrp="1"/>
          </p:cNvSpPr>
          <p:nvPr/>
        </p:nvSpPr>
        <p:spPr>
          <a:xfrm>
            <a:off x="4429125" y="1428750"/>
            <a:ext cx="66675" cy="14859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CC43FDA-BDCD-4201-9FBF-835E0350A603}"/>
              </a:ext>
            </a:extLst>
          </p:cNvPr>
          <p:cNvSpPr>
            <a:spLocks noGrp="1"/>
          </p:cNvSpPr>
          <p:nvPr/>
        </p:nvSpPr>
        <p:spPr>
          <a:xfrm>
            <a:off x="4619625" y="1581150"/>
            <a:ext cx="2990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users.json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3E57056-104C-40F5-A069-77853C446BDA}"/>
              </a:ext>
            </a:extLst>
          </p:cNvPr>
          <p:cNvSpPr>
            <a:spLocks noGrp="1"/>
          </p:cNvSpPr>
          <p:nvPr/>
        </p:nvSpPr>
        <p:spPr>
          <a:xfrm>
            <a:off x="4619625" y="1905000"/>
            <a:ext cx="29908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사용자 ID와 선호 키워드를 저장합니다. Topic-Sensitive Ranking에서 특정 사용자의 키워드 가중치를 높이는 데 사용합니다.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8ABFC88-2358-4869-9288-B0278CF10A85}"/>
              </a:ext>
            </a:extLst>
          </p:cNvPr>
          <p:cNvSpPr>
            <a:spLocks noGrp="1"/>
          </p:cNvSpPr>
          <p:nvPr/>
        </p:nvSpPr>
        <p:spPr>
          <a:xfrm>
            <a:off x="8286750" y="1428750"/>
            <a:ext cx="3333750" cy="14859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941380-AC4B-4A60-9616-3B722C85C42D}"/>
              </a:ext>
            </a:extLst>
          </p:cNvPr>
          <p:cNvSpPr>
            <a:spLocks noGrp="1"/>
          </p:cNvSpPr>
          <p:nvPr/>
        </p:nvSpPr>
        <p:spPr>
          <a:xfrm>
            <a:off x="8286750" y="1428750"/>
            <a:ext cx="66675" cy="148590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4D26614-D34D-4E2F-A913-96F73564E009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2990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user_likes.csv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F67CBAC-7399-4C72-8908-16B80CD1A065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29908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user_id, place_id 형식의 좋아요 데이터입니다. CF에서 사용자별 좋아요 집합을 만들고 유사 사용자를 찾는 입력입니다.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71B048-A8DA-4EDD-9F71-19C7AFBB252D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4629150" cy="2038350"/>
          </a:xfrm>
          <a:prstGeom prst="rect">
            <a:avLst/>
          </a:prstGeom>
          <a:solidFill>
            <a:srgbClr val="123224"/>
          </a:solidFill>
          <a:ln w="9525">
            <a:solidFill>
              <a:srgbClr val="315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142A94E-167C-4B39-8A1F-1319EE89B7DC}"/>
              </a:ext>
            </a:extLst>
          </p:cNvPr>
          <p:cNvSpPr>
            <a:spLocks noGrp="1"/>
          </p:cNvSpPr>
          <p:nvPr/>
        </p:nvSpPr>
        <p:spPr>
          <a:xfrm>
            <a:off x="857250" y="3448050"/>
            <a:ext cx="4286250" cy="1771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places.json 예시</a:t>
            </a:r>
          </a:p>
          <a:p>
            <a:pPr algn="l">
              <a:def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  "id": 1,</a:t>
            </a:r>
          </a:p>
          <a:p>
            <a:pPr algn="l">
              <a:def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  "name": "황리단길",</a:t>
            </a:r>
          </a:p>
          <a:p>
            <a:pPr algn="l">
              <a:def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  "lat": 35.8354,</a:t>
            </a:r>
          </a:p>
          <a:p>
            <a:pPr algn="l">
              <a:def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  "lng": 129.2104,</a:t>
            </a:r>
          </a:p>
          <a:p>
            <a:pPr algn="l">
              <a:def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  "keywords": ["감성적인", "사진맛집", "데이트"]</a:t>
            </a:r>
          </a:p>
          <a:p>
            <a:pPr algn="l">
              <a:def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83DDDD1-7B2F-41DD-8480-27294C1A0B57}"/>
              </a:ext>
            </a:extLst>
          </p:cNvPr>
          <p:cNvSpPr>
            <a:spLocks noGrp="1"/>
          </p:cNvSpPr>
          <p:nvPr/>
        </p:nvSpPr>
        <p:spPr>
          <a:xfrm>
            <a:off x="5905500" y="3295650"/>
            <a:ext cx="161925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DFA277-F9D4-422F-A9DE-FE904BCFC877}"/>
              </a:ext>
            </a:extLst>
          </p:cNvPr>
          <p:cNvSpPr>
            <a:spLocks noGrp="1"/>
          </p:cNvSpPr>
          <p:nvPr/>
        </p:nvSpPr>
        <p:spPr>
          <a:xfrm>
            <a:off x="5981700" y="3390900"/>
            <a:ext cx="1466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데이터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A96E961-8F7F-4D29-B093-2727CB0035F5}"/>
              </a:ext>
            </a:extLst>
          </p:cNvPr>
          <p:cNvSpPr>
            <a:spLocks noGrp="1"/>
          </p:cNvSpPr>
          <p:nvPr/>
        </p:nvSpPr>
        <p:spPr>
          <a:xfrm>
            <a:off x="7524750" y="3295650"/>
            <a:ext cx="224790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061EE30-B21A-494B-A74E-E8611B13961A}"/>
              </a:ext>
            </a:extLst>
          </p:cNvPr>
          <p:cNvSpPr>
            <a:spLocks noGrp="1"/>
          </p:cNvSpPr>
          <p:nvPr/>
        </p:nvSpPr>
        <p:spPr>
          <a:xfrm>
            <a:off x="7600950" y="3390900"/>
            <a:ext cx="2095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프로토타입 내 사용 위치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2E2F1E4-0EE2-40D3-9769-3285229CB4FD}"/>
              </a:ext>
            </a:extLst>
          </p:cNvPr>
          <p:cNvSpPr>
            <a:spLocks noGrp="1"/>
          </p:cNvSpPr>
          <p:nvPr/>
        </p:nvSpPr>
        <p:spPr>
          <a:xfrm>
            <a:off x="9772650" y="3295650"/>
            <a:ext cx="200025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E2E13D-FCED-418B-98BA-A45C774289A5}"/>
              </a:ext>
            </a:extLst>
          </p:cNvPr>
          <p:cNvSpPr>
            <a:spLocks noGrp="1"/>
          </p:cNvSpPr>
          <p:nvPr/>
        </p:nvSpPr>
        <p:spPr>
          <a:xfrm>
            <a:off x="9848850" y="3390900"/>
            <a:ext cx="1847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출처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5697E61-216E-423C-9050-91D0C1712AF6}"/>
              </a:ext>
            </a:extLst>
          </p:cNvPr>
          <p:cNvSpPr>
            <a:spLocks noGrp="1"/>
          </p:cNvSpPr>
          <p:nvPr/>
        </p:nvSpPr>
        <p:spPr>
          <a:xfrm>
            <a:off x="5905500" y="3619500"/>
            <a:ext cx="161925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EEC4FBF-5E9A-47A7-B711-0E8DF689595D}"/>
              </a:ext>
            </a:extLst>
          </p:cNvPr>
          <p:cNvSpPr>
            <a:spLocks noGrp="1"/>
          </p:cNvSpPr>
          <p:nvPr/>
        </p:nvSpPr>
        <p:spPr>
          <a:xfrm>
            <a:off x="5981700" y="3695700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places.json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44DC758-07AA-4CDA-B749-A05E8DCD3525}"/>
              </a:ext>
            </a:extLst>
          </p:cNvPr>
          <p:cNvSpPr>
            <a:spLocks noGrp="1"/>
          </p:cNvSpPr>
          <p:nvPr/>
        </p:nvSpPr>
        <p:spPr>
          <a:xfrm>
            <a:off x="7524750" y="3619500"/>
            <a:ext cx="224790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B49129E-5511-4FF7-8C64-C0382D1A726E}"/>
              </a:ext>
            </a:extLst>
          </p:cNvPr>
          <p:cNvSpPr>
            <a:spLocks noGrp="1"/>
          </p:cNvSpPr>
          <p:nvPr/>
        </p:nvSpPr>
        <p:spPr>
          <a:xfrm>
            <a:off x="7600950" y="369570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키워드, PPR, 경로 계산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CCB36DE-9279-43B1-AED0-CDC8A0AAD2BE}"/>
              </a:ext>
            </a:extLst>
          </p:cNvPr>
          <p:cNvSpPr>
            <a:spLocks noGrp="1"/>
          </p:cNvSpPr>
          <p:nvPr/>
        </p:nvSpPr>
        <p:spPr>
          <a:xfrm>
            <a:off x="9772650" y="3619500"/>
            <a:ext cx="200025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577A335-A3F4-407B-9192-7567F54E7200}"/>
              </a:ext>
            </a:extLst>
          </p:cNvPr>
          <p:cNvSpPr>
            <a:spLocks noGrp="1"/>
          </p:cNvSpPr>
          <p:nvPr/>
        </p:nvSpPr>
        <p:spPr>
          <a:xfrm>
            <a:off x="9848850" y="3695700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팀 자체 구성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26175F5-1452-414A-A5C8-1B77FE2ECCA6}"/>
              </a:ext>
            </a:extLst>
          </p:cNvPr>
          <p:cNvSpPr>
            <a:spLocks noGrp="1"/>
          </p:cNvSpPr>
          <p:nvPr/>
        </p:nvSpPr>
        <p:spPr>
          <a:xfrm>
            <a:off x="5905500" y="4152900"/>
            <a:ext cx="1619250" cy="5334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94F99D1-E125-4CA6-A87E-5B833925703F}"/>
              </a:ext>
            </a:extLst>
          </p:cNvPr>
          <p:cNvSpPr>
            <a:spLocks noGrp="1"/>
          </p:cNvSpPr>
          <p:nvPr/>
        </p:nvSpPr>
        <p:spPr>
          <a:xfrm>
            <a:off x="5981700" y="4229100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users.json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93DF5EA-4E47-421D-B270-7F7A57F35F8C}"/>
              </a:ext>
            </a:extLst>
          </p:cNvPr>
          <p:cNvSpPr>
            <a:spLocks noGrp="1"/>
          </p:cNvSpPr>
          <p:nvPr/>
        </p:nvSpPr>
        <p:spPr>
          <a:xfrm>
            <a:off x="7524750" y="4152900"/>
            <a:ext cx="2247900" cy="5334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69CDD25-2DAB-49E6-83F8-5B269E2FD773}"/>
              </a:ext>
            </a:extLst>
          </p:cNvPr>
          <p:cNvSpPr>
            <a:spLocks noGrp="1"/>
          </p:cNvSpPr>
          <p:nvPr/>
        </p:nvSpPr>
        <p:spPr>
          <a:xfrm>
            <a:off x="7600950" y="422910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사용자 선호 키워드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B8EDC-953B-49DF-94A4-3158AFD9774A}"/>
              </a:ext>
            </a:extLst>
          </p:cNvPr>
          <p:cNvSpPr>
            <a:spLocks noGrp="1"/>
          </p:cNvSpPr>
          <p:nvPr/>
        </p:nvSpPr>
        <p:spPr>
          <a:xfrm>
            <a:off x="9772650" y="4152900"/>
            <a:ext cx="2000250" cy="5334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EB5BE92-50AB-4EA1-AF02-F76C42268BAC}"/>
              </a:ext>
            </a:extLst>
          </p:cNvPr>
          <p:cNvSpPr>
            <a:spLocks noGrp="1"/>
          </p:cNvSpPr>
          <p:nvPr/>
        </p:nvSpPr>
        <p:spPr>
          <a:xfrm>
            <a:off x="9848850" y="4229100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더미 사용자 데이터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6B19A6A-F3A2-44E8-B4FA-D6BACA15CC59}"/>
              </a:ext>
            </a:extLst>
          </p:cNvPr>
          <p:cNvSpPr>
            <a:spLocks noGrp="1"/>
          </p:cNvSpPr>
          <p:nvPr/>
        </p:nvSpPr>
        <p:spPr>
          <a:xfrm>
            <a:off x="5905500" y="4686300"/>
            <a:ext cx="161925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1F92A04-0792-4BF5-ACC2-49FAF2223501}"/>
              </a:ext>
            </a:extLst>
          </p:cNvPr>
          <p:cNvSpPr>
            <a:spLocks noGrp="1"/>
          </p:cNvSpPr>
          <p:nvPr/>
        </p:nvSpPr>
        <p:spPr>
          <a:xfrm>
            <a:off x="5981700" y="4762500"/>
            <a:ext cx="1466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user_likes.csv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A56C311-1854-4C4E-AC58-6C6645DD89CC}"/>
              </a:ext>
            </a:extLst>
          </p:cNvPr>
          <p:cNvSpPr>
            <a:spLocks noGrp="1"/>
          </p:cNvSpPr>
          <p:nvPr/>
        </p:nvSpPr>
        <p:spPr>
          <a:xfrm>
            <a:off x="7524750" y="4686300"/>
            <a:ext cx="224790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EBE710C-CC56-4C24-9FFC-69065A9F01D9}"/>
              </a:ext>
            </a:extLst>
          </p:cNvPr>
          <p:cNvSpPr>
            <a:spLocks noGrp="1"/>
          </p:cNvSpPr>
          <p:nvPr/>
        </p:nvSpPr>
        <p:spPr>
          <a:xfrm>
            <a:off x="7600950" y="476250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CF 유사도 계산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F5ABD43-74C0-4FA0-8544-11F27C431088}"/>
              </a:ext>
            </a:extLst>
          </p:cNvPr>
          <p:cNvSpPr>
            <a:spLocks noGrp="1"/>
          </p:cNvSpPr>
          <p:nvPr/>
        </p:nvSpPr>
        <p:spPr>
          <a:xfrm>
            <a:off x="9772650" y="4686300"/>
            <a:ext cx="2000250" cy="5334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FB3C57C-053C-4DA2-815A-6E73C7133A7A}"/>
              </a:ext>
            </a:extLst>
          </p:cNvPr>
          <p:cNvSpPr>
            <a:spLocks noGrp="1"/>
          </p:cNvSpPr>
          <p:nvPr/>
        </p:nvSpPr>
        <p:spPr>
          <a:xfrm>
            <a:off x="9848850" y="4762500"/>
            <a:ext cx="1847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더미 행동 데이터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6AA98A-E9E0-4A32-8CDC-C0DE5A0C1E68}"/>
              </a:ext>
            </a:extLst>
          </p:cNvPr>
          <p:cNvSpPr>
            <a:spLocks noGrp="1"/>
          </p:cNvSpPr>
          <p:nvPr/>
        </p:nvSpPr>
        <p:spPr>
          <a:xfrm>
            <a:off x="5905500" y="5295900"/>
            <a:ext cx="561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데이터 출처: 경주 주요 여행지를 기준으로 팀에서 직접 구성한 프로토타입용 데이터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744FD6C-73F0-4261-AB01-27022D6572C5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Graph Navigators | GraphTrip 기말 프로젝트</a:t>
            </a:r>
          </a:p>
        </p:txBody>
      </p:sp>
    </p:spTree>
    <p:extLst>
      <p:ext uri="{BB962C8B-B14F-4D97-AF65-F5344CB8AC3E}">
        <p14:creationId xmlns:p14="http://schemas.microsoft.com/office/powerpoint/2010/main" val="1226837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29B1221A-0725-4C04-A908-BCF58EDA45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3116F9-E4BE-4EF0-9FF5-CE28A2CC5E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1C9993-C1BE-4905-955A-05159D614F2B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A4C5D6-323D-4027-9B21-C327AF8D6315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추천은 네 개의 알고리즘 단계를 지나 최종 코스가 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2CBF5C-E76C-4A9B-BD4B-36DA2A360379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7DDB59-2CF6-42C2-B946-531ABB621C22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B43698-B9BC-49CC-BA81-EADB3262CB5F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⑥ 설계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DFC539-1E71-4674-B425-002BD06C935F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93D43A-1ECF-454B-BBCB-9554E5C35910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2072640" cy="1619250"/>
          </a:xfrm>
          <a:prstGeom prst="rect">
            <a:avLst/>
          </a:prstGeom>
          <a:solidFill>
            <a:srgbClr val="EAF2E5"/>
          </a:solidFill>
          <a:ln w="12383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674361-2050-491D-B861-F1663666ACA2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207264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D3F90E-D85B-4E83-B110-BEAFE4CF8F8B}"/>
              </a:ext>
            </a:extLst>
          </p:cNvPr>
          <p:cNvSpPr>
            <a:spLocks noGrp="1"/>
          </p:cNvSpPr>
          <p:nvPr/>
        </p:nvSpPr>
        <p:spPr>
          <a:xfrm>
            <a:off x="723900" y="1771650"/>
            <a:ext cx="184404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1. 행동 추천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6B0BACE-CC4E-4B76-B7E9-DCAFBDB6D32F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180594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user_likes.csv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Jaccard 기반 CF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688C50-E156-497D-9C07-65DCBC888FFF}"/>
              </a:ext>
            </a:extLst>
          </p:cNvPr>
          <p:cNvSpPr>
            <a:spLocks noGrp="1"/>
          </p:cNvSpPr>
          <p:nvPr/>
        </p:nvSpPr>
        <p:spPr>
          <a:xfrm>
            <a:off x="2701290" y="23526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3388A6-2C1B-4372-88FF-CBFD3554DC5B}"/>
              </a:ext>
            </a:extLst>
          </p:cNvPr>
          <p:cNvSpPr>
            <a:spLocks noGrp="1"/>
          </p:cNvSpPr>
          <p:nvPr/>
        </p:nvSpPr>
        <p:spPr>
          <a:xfrm>
            <a:off x="2834640" y="1562100"/>
            <a:ext cx="2072640" cy="1619250"/>
          </a:xfrm>
          <a:prstGeom prst="rect">
            <a:avLst/>
          </a:prstGeom>
          <a:solidFill>
            <a:srgbClr val="FBF1DA"/>
          </a:solidFill>
          <a:ln w="12383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101C7C1-1872-45E2-ABC1-49DD08E961F4}"/>
              </a:ext>
            </a:extLst>
          </p:cNvPr>
          <p:cNvSpPr>
            <a:spLocks noGrp="1"/>
          </p:cNvSpPr>
          <p:nvPr/>
        </p:nvSpPr>
        <p:spPr>
          <a:xfrm>
            <a:off x="2834640" y="1562100"/>
            <a:ext cx="2072640" cy="7620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047BAA-9C8D-47EB-88F0-DF351A13BD1E}"/>
              </a:ext>
            </a:extLst>
          </p:cNvPr>
          <p:cNvSpPr>
            <a:spLocks noGrp="1"/>
          </p:cNvSpPr>
          <p:nvPr/>
        </p:nvSpPr>
        <p:spPr>
          <a:xfrm>
            <a:off x="2948940" y="1771650"/>
            <a:ext cx="184404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2. 키워드 분석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0037BB-73F9-474A-AD0A-B69B11FB8455}"/>
              </a:ext>
            </a:extLst>
          </p:cNvPr>
          <p:cNvSpPr>
            <a:spLocks noGrp="1"/>
          </p:cNvSpPr>
          <p:nvPr/>
        </p:nvSpPr>
        <p:spPr>
          <a:xfrm>
            <a:off x="2967990" y="2133600"/>
            <a:ext cx="180594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Trie / TF-IDF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K-Means 군집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DFD9C8-268B-423C-822D-0A7C7CAA06A5}"/>
              </a:ext>
            </a:extLst>
          </p:cNvPr>
          <p:cNvSpPr>
            <a:spLocks noGrp="1"/>
          </p:cNvSpPr>
          <p:nvPr/>
        </p:nvSpPr>
        <p:spPr>
          <a:xfrm>
            <a:off x="4926330" y="23526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B55392-1D5E-4AD3-BD04-58BA92D924D9}"/>
              </a:ext>
            </a:extLst>
          </p:cNvPr>
          <p:cNvSpPr>
            <a:spLocks noGrp="1"/>
          </p:cNvSpPr>
          <p:nvPr/>
        </p:nvSpPr>
        <p:spPr>
          <a:xfrm>
            <a:off x="5059680" y="1562100"/>
            <a:ext cx="2072640" cy="1619250"/>
          </a:xfrm>
          <a:prstGeom prst="rect">
            <a:avLst/>
          </a:prstGeom>
          <a:solidFill>
            <a:srgbClr val="E9F1FA"/>
          </a:solidFill>
          <a:ln w="12383">
            <a:solidFill>
              <a:srgbClr val="38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C7D235-A00F-4220-9DFC-254176F25715}"/>
              </a:ext>
            </a:extLst>
          </p:cNvPr>
          <p:cNvSpPr>
            <a:spLocks noGrp="1"/>
          </p:cNvSpPr>
          <p:nvPr/>
        </p:nvSpPr>
        <p:spPr>
          <a:xfrm>
            <a:off x="5059680" y="1562100"/>
            <a:ext cx="2072640" cy="762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D71A84C-57FD-4B65-B178-4436FAC8E916}"/>
              </a:ext>
            </a:extLst>
          </p:cNvPr>
          <p:cNvSpPr>
            <a:spLocks noGrp="1"/>
          </p:cNvSpPr>
          <p:nvPr/>
        </p:nvSpPr>
        <p:spPr>
          <a:xfrm>
            <a:off x="5173980" y="1771650"/>
            <a:ext cx="184404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3. 개인화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CD2713C-DC6F-4652-AFFE-099EB6152B31}"/>
              </a:ext>
            </a:extLst>
          </p:cNvPr>
          <p:cNvSpPr>
            <a:spLocks noGrp="1"/>
          </p:cNvSpPr>
          <p:nvPr/>
        </p:nvSpPr>
        <p:spPr>
          <a:xfrm>
            <a:off x="5193030" y="2133600"/>
            <a:ext cx="180594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Weighted Graph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RWR + PPR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B4CED3A-9B1E-481C-9A09-65B9E4101A5C}"/>
              </a:ext>
            </a:extLst>
          </p:cNvPr>
          <p:cNvSpPr>
            <a:spLocks noGrp="1"/>
          </p:cNvSpPr>
          <p:nvPr/>
        </p:nvSpPr>
        <p:spPr>
          <a:xfrm>
            <a:off x="7151370" y="23526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BC19AA2-1DC2-425A-B7F7-8183F22EDDAF}"/>
              </a:ext>
            </a:extLst>
          </p:cNvPr>
          <p:cNvSpPr>
            <a:spLocks noGrp="1"/>
          </p:cNvSpPr>
          <p:nvPr/>
        </p:nvSpPr>
        <p:spPr>
          <a:xfrm>
            <a:off x="7284720" y="1562100"/>
            <a:ext cx="2072640" cy="1619250"/>
          </a:xfrm>
          <a:prstGeom prst="rect">
            <a:avLst/>
          </a:prstGeom>
          <a:solidFill>
            <a:srgbClr val="FBE8E3"/>
          </a:solidFill>
          <a:ln w="12383">
            <a:solidFill>
              <a:srgbClr val="D95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E1A17C4-0500-4571-879C-DE9BCE8E4804}"/>
              </a:ext>
            </a:extLst>
          </p:cNvPr>
          <p:cNvSpPr>
            <a:spLocks noGrp="1"/>
          </p:cNvSpPr>
          <p:nvPr/>
        </p:nvSpPr>
        <p:spPr>
          <a:xfrm>
            <a:off x="7284720" y="1562100"/>
            <a:ext cx="2072640" cy="76200"/>
          </a:xfrm>
          <a:prstGeom prst="rect">
            <a:avLst/>
          </a:prstGeom>
          <a:solidFill>
            <a:srgbClr val="D95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EC0AD65-5CAF-44F2-80C6-D02C671596AD}"/>
              </a:ext>
            </a:extLst>
          </p:cNvPr>
          <p:cNvSpPr>
            <a:spLocks noGrp="1"/>
          </p:cNvSpPr>
          <p:nvPr/>
        </p:nvSpPr>
        <p:spPr>
          <a:xfrm>
            <a:off x="7399020" y="1771650"/>
            <a:ext cx="184404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4. 점수 결합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CD73A93-6AAE-448F-88B1-2BEB3CC3FAC5}"/>
              </a:ext>
            </a:extLst>
          </p:cNvPr>
          <p:cNvSpPr>
            <a:spLocks noGrp="1"/>
          </p:cNvSpPr>
          <p:nvPr/>
        </p:nvSpPr>
        <p:spPr>
          <a:xfrm>
            <a:off x="7418070" y="2133600"/>
            <a:ext cx="180594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CF 0.4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RWR 0.6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C561811-6258-4D0F-9CB5-C4FC1C90676C}"/>
              </a:ext>
            </a:extLst>
          </p:cNvPr>
          <p:cNvSpPr>
            <a:spLocks noGrp="1"/>
          </p:cNvSpPr>
          <p:nvPr/>
        </p:nvSpPr>
        <p:spPr>
          <a:xfrm>
            <a:off x="9376410" y="23526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1453195-9E88-4BEF-824B-29BC27A6CF3F}"/>
              </a:ext>
            </a:extLst>
          </p:cNvPr>
          <p:cNvSpPr>
            <a:spLocks noGrp="1"/>
          </p:cNvSpPr>
          <p:nvPr/>
        </p:nvSpPr>
        <p:spPr>
          <a:xfrm>
            <a:off x="9509760" y="1562100"/>
            <a:ext cx="2072640" cy="1619250"/>
          </a:xfrm>
          <a:prstGeom prst="rect">
            <a:avLst/>
          </a:prstGeom>
          <a:solidFill>
            <a:srgbClr val="EAF2E5"/>
          </a:solidFill>
          <a:ln w="12383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4F89BA-48E0-4E91-8575-99AD60F6062F}"/>
              </a:ext>
            </a:extLst>
          </p:cNvPr>
          <p:cNvSpPr>
            <a:spLocks noGrp="1"/>
          </p:cNvSpPr>
          <p:nvPr/>
        </p:nvSpPr>
        <p:spPr>
          <a:xfrm>
            <a:off x="9509760" y="1562100"/>
            <a:ext cx="207264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85F48B8-E306-4E26-BEFC-0FB51F6E8662}"/>
              </a:ext>
            </a:extLst>
          </p:cNvPr>
          <p:cNvSpPr>
            <a:spLocks noGrp="1"/>
          </p:cNvSpPr>
          <p:nvPr/>
        </p:nvSpPr>
        <p:spPr>
          <a:xfrm>
            <a:off x="9624060" y="1771650"/>
            <a:ext cx="184404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5. 코스 최적화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B2E0DD7-04B6-4D97-AD9B-22692307464B}"/>
              </a:ext>
            </a:extLst>
          </p:cNvPr>
          <p:cNvSpPr>
            <a:spLocks noGrp="1"/>
          </p:cNvSpPr>
          <p:nvPr/>
        </p:nvSpPr>
        <p:spPr>
          <a:xfrm>
            <a:off x="9643110" y="2133600"/>
            <a:ext cx="180594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좌표 거리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Dijkstra + Greedy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0D99D84-CFA6-4AEE-9D1A-A4D4500A4F4B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3048000" cy="14287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9D04346-D6B0-4AB7-847F-D111F10EA90C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66675" cy="142875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A260F1F-4B66-4C53-B7CF-A646553A2148}"/>
              </a:ext>
            </a:extLst>
          </p:cNvPr>
          <p:cNvSpPr>
            <a:spLocks noGrp="1"/>
          </p:cNvSpPr>
          <p:nvPr/>
        </p:nvSpPr>
        <p:spPr>
          <a:xfrm>
            <a:off x="1047750" y="3867150"/>
            <a:ext cx="27051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통합 기준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7381E78-1F99-46C9-AF56-F86AFB3B50A6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27051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모듈 간에는 장소 ID 리스트가 핵심 인터페이스입니다. 추천 모듈은 place_id를 만들고, 경로 모듈은 그 ID들을 방문 순서로 바꿉니다.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575858C-CBB4-404B-876F-13B75094DB3C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3048000" cy="14287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0C925E0-0E04-4B64-A16B-E9F4434FA477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66675" cy="142875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7C3B60D-88E4-4224-9C3F-5BBDBA814700}"/>
              </a:ext>
            </a:extLst>
          </p:cNvPr>
          <p:cNvSpPr>
            <a:spLocks noGrp="1"/>
          </p:cNvSpPr>
          <p:nvPr/>
        </p:nvSpPr>
        <p:spPr>
          <a:xfrm>
            <a:off x="4762500" y="3867150"/>
            <a:ext cx="27051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키워드 연결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86BDD39-F14E-4975-9844-7BCC6994E89F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27051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TF-IDF와 K-Means로 장소의 키워드 성향을 분류하고, 키워드 가중치는 개인화 추천 그래프의 관계 계산에 활용됩니다.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C98E87D-B82F-4DA7-BFC5-AC79552FF5CF}"/>
              </a:ext>
            </a:extLst>
          </p:cNvPr>
          <p:cNvSpPr>
            <a:spLocks noGrp="1"/>
          </p:cNvSpPr>
          <p:nvPr/>
        </p:nvSpPr>
        <p:spPr>
          <a:xfrm>
            <a:off x="8286750" y="3714750"/>
            <a:ext cx="3048000" cy="14287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F3DA3C8-9487-446E-9AFC-25BE26EC1DBD}"/>
              </a:ext>
            </a:extLst>
          </p:cNvPr>
          <p:cNvSpPr>
            <a:spLocks noGrp="1"/>
          </p:cNvSpPr>
          <p:nvPr/>
        </p:nvSpPr>
        <p:spPr>
          <a:xfrm>
            <a:off x="8286750" y="3714750"/>
            <a:ext cx="66675" cy="142875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DA89BB8-B120-43DA-ABCC-DCC960342877}"/>
              </a:ext>
            </a:extLst>
          </p:cNvPr>
          <p:cNvSpPr>
            <a:spLocks noGrp="1"/>
          </p:cNvSpPr>
          <p:nvPr/>
        </p:nvSpPr>
        <p:spPr>
          <a:xfrm>
            <a:off x="8477250" y="3867150"/>
            <a:ext cx="27051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결과 형태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9ADF710-7B35-4FC3-B9A9-46DAC3B3B6D8}"/>
              </a:ext>
            </a:extLst>
          </p:cNvPr>
          <p:cNvSpPr>
            <a:spLocks noGrp="1"/>
          </p:cNvSpPr>
          <p:nvPr/>
        </p:nvSpPr>
        <p:spPr>
          <a:xfrm>
            <a:off x="8477250" y="4191000"/>
            <a:ext cx="27051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추천 장소명, 추천 이유, 점수, 매칭 키워드, 최종 경로, 총 거리, 개선율을 함께 출력합니다.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5A2EA62-29AC-4495-8CEE-F520F6BC005F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1028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핵심 구조: 추천 점수 생성 → 개인화 후보 정렬 → 거리 기준 방문 순서 최적화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0AE25FA-7187-4D5B-A1D2-6A63262ACB57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Graph Navigators | GraphTrip 기말 프로젝트</a:t>
            </a:r>
          </a:p>
        </p:txBody>
      </p:sp>
    </p:spTree>
    <p:extLst>
      <p:ext uri="{BB962C8B-B14F-4D97-AF65-F5344CB8AC3E}">
        <p14:creationId xmlns:p14="http://schemas.microsoft.com/office/powerpoint/2010/main" val="1110312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B8D6F211-F2A5-4BF5-98AC-B2FD3D873A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FCB3CE-E874-4B50-97DA-7A485674C3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366C0B-D962-4723-929F-99631C471FDB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WORK DIVISION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795C82-30A7-46E7-A95E-A24C91AF7A78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업무 분장: 추천 결과가 코스까지 이어지는 구조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AE1A84-3360-4FF9-AB05-69DFBD9DF14F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FC82CE-8714-4FB1-805F-31724A501B52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14C4AD-65AB-4AD8-AAFB-E49AD171A496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③⑤ 분장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82E264-3A3F-45B6-B505-2ED86B538B60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BF7E9C-19D4-4D39-B293-569EAE7E5E34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51435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BBB98A-935B-4B3F-B40E-6A45B6DA4E0B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76200" cy="16383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A6E1BDF-C396-4672-83DE-82F99973A168}"/>
              </a:ext>
            </a:extLst>
          </p:cNvPr>
          <p:cNvSpPr>
            <a:spLocks noGrp="1"/>
          </p:cNvSpPr>
          <p:nvPr/>
        </p:nvSpPr>
        <p:spPr>
          <a:xfrm>
            <a:off x="895350" y="160020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이수광 · CF 추천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ACBD90-2A33-4BC6-9F2F-48C25D0946DF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686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1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사용자별 좋아요 집합을 만들고 비슷한 사용자의 장소를 후보로 추천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EA5825-801E-42C2-BE1D-5F077A05B078}"/>
              </a:ext>
            </a:extLst>
          </p:cNvPr>
          <p:cNvSpPr>
            <a:spLocks noGrp="1"/>
          </p:cNvSpPr>
          <p:nvPr/>
        </p:nvSpPr>
        <p:spPr>
          <a:xfrm>
            <a:off x="895350" y="2457450"/>
            <a:ext cx="468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Set / Dictionary / Heap · CF / Jaccard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8AB971-DBDB-4969-A7C1-536F438DA5F1}"/>
              </a:ext>
            </a:extLst>
          </p:cNvPr>
          <p:cNvSpPr>
            <a:spLocks noGrp="1"/>
          </p:cNvSpPr>
          <p:nvPr/>
        </p:nvSpPr>
        <p:spPr>
          <a:xfrm>
            <a:off x="895350" y="2724150"/>
            <a:ext cx="468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8251D"/>
                </a:solidFill>
                <a:latin typeface="Aptos"/>
                <a:ea typeface="Aptos"/>
                <a:cs typeface="Aptos"/>
              </a:rPr>
              <a:t>출력: CF 추천 place_id와 점수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D822151-0F71-48B2-A0EA-825649F46EED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51435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A73A14-8FAB-428E-8E0E-B3FB5D1A8642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76200" cy="163830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60EC2C-25E8-4B29-B822-6BE9CDFAAA1A}"/>
              </a:ext>
            </a:extLst>
          </p:cNvPr>
          <p:cNvSpPr>
            <a:spLocks noGrp="1"/>
          </p:cNvSpPr>
          <p:nvPr/>
        </p:nvSpPr>
        <p:spPr>
          <a:xfrm>
            <a:off x="6610350" y="160020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박종빈 · 키워드 분석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522FB8-2009-4E08-967B-1D61E52825DB}"/>
              </a:ext>
            </a:extLst>
          </p:cNvPr>
          <p:cNvSpPr>
            <a:spLocks noGrp="1"/>
          </p:cNvSpPr>
          <p:nvPr/>
        </p:nvSpPr>
        <p:spPr>
          <a:xfrm>
            <a:off x="6610350" y="1943100"/>
            <a:ext cx="4686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1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장소 키워드를 벡터화하고 군집화해 사용자 키워드 가중치를 계산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681F6D0-7DCD-4FF2-BDD7-818FC39B75AC}"/>
              </a:ext>
            </a:extLst>
          </p:cNvPr>
          <p:cNvSpPr>
            <a:spLocks noGrp="1"/>
          </p:cNvSpPr>
          <p:nvPr/>
        </p:nvSpPr>
        <p:spPr>
          <a:xfrm>
            <a:off x="6610350" y="2457450"/>
            <a:ext cx="468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Trie / HashMap / Matrix · TF-IDF / K-Means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42F8C0-DAC5-46E7-9B0B-EF4298475256}"/>
              </a:ext>
            </a:extLst>
          </p:cNvPr>
          <p:cNvSpPr>
            <a:spLocks noGrp="1"/>
          </p:cNvSpPr>
          <p:nvPr/>
        </p:nvSpPr>
        <p:spPr>
          <a:xfrm>
            <a:off x="6610350" y="2724150"/>
            <a:ext cx="468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8251D"/>
                </a:solidFill>
                <a:latin typeface="Aptos"/>
                <a:ea typeface="Aptos"/>
                <a:cs typeface="Aptos"/>
              </a:rPr>
              <a:t>출력: 키워드 가중치와 장소 군집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C17FDB-4234-48E5-819B-8FEF876BFA5C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51435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3D1BCE3-7B69-4D3E-AA97-69A230D0EACE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76200" cy="16383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D3DF69F-4B35-4698-9986-F49210837896}"/>
              </a:ext>
            </a:extLst>
          </p:cNvPr>
          <p:cNvSpPr>
            <a:spLocks noGrp="1"/>
          </p:cNvSpPr>
          <p:nvPr/>
        </p:nvSpPr>
        <p:spPr>
          <a:xfrm>
            <a:off x="895350" y="360045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심찬기 · 개인화 추천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2FEF5F7-86AE-4FC7-894A-97FA467F16AE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686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1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CF 후보와 키워드 가중치를 결합해 그래프 기반 개인화 점수 계산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D796686-4A93-42F0-8B69-F2F42D808421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468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1">
                <a:solidFill>
                  <a:srgbClr val="386FA4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386FA4"/>
                </a:solidFill>
                <a:latin typeface="Aptos"/>
                <a:ea typeface="Aptos"/>
                <a:cs typeface="Aptos"/>
              </a:rPr>
              <a:t>Weighted Graph / Dictionary · RWR / PPR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E45F3D3-FA5A-4F11-9823-57DF3F3FE779}"/>
              </a:ext>
            </a:extLst>
          </p:cNvPr>
          <p:cNvSpPr>
            <a:spLocks noGrp="1"/>
          </p:cNvSpPr>
          <p:nvPr/>
        </p:nvSpPr>
        <p:spPr>
          <a:xfrm>
            <a:off x="895350" y="4724400"/>
            <a:ext cx="468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8251D"/>
                </a:solidFill>
                <a:latin typeface="Aptos"/>
                <a:ea typeface="Aptos"/>
                <a:cs typeface="Aptos"/>
              </a:rPr>
              <a:t>출력: 최종 추천 장소 목록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D21413-7EEC-46A5-A365-C4F6E52D6E3F}"/>
              </a:ext>
            </a:extLst>
          </p:cNvPr>
          <p:cNvSpPr>
            <a:spLocks noGrp="1"/>
          </p:cNvSpPr>
          <p:nvPr/>
        </p:nvSpPr>
        <p:spPr>
          <a:xfrm>
            <a:off x="6381750" y="3429000"/>
            <a:ext cx="5143500" cy="1638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CA5075-D97A-4A3B-9527-0F7077484A62}"/>
              </a:ext>
            </a:extLst>
          </p:cNvPr>
          <p:cNvSpPr>
            <a:spLocks noGrp="1"/>
          </p:cNvSpPr>
          <p:nvPr/>
        </p:nvSpPr>
        <p:spPr>
          <a:xfrm>
            <a:off x="6381750" y="3429000"/>
            <a:ext cx="76200" cy="1638300"/>
          </a:xfrm>
          <a:prstGeom prst="rect">
            <a:avLst/>
          </a:prstGeom>
          <a:solidFill>
            <a:srgbClr val="D95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9A81CF-085A-48B6-A535-E22F280F37AF}"/>
              </a:ext>
            </a:extLst>
          </p:cNvPr>
          <p:cNvSpPr>
            <a:spLocks noGrp="1"/>
          </p:cNvSpPr>
          <p:nvPr/>
        </p:nvSpPr>
        <p:spPr>
          <a:xfrm>
            <a:off x="6610350" y="360045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최정현 · 경로 최적화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950EDEE-AC0D-49B8-9E4B-EAC138736D30}"/>
              </a:ext>
            </a:extLst>
          </p:cNvPr>
          <p:cNvSpPr>
            <a:spLocks noGrp="1"/>
          </p:cNvSpPr>
          <p:nvPr/>
        </p:nvSpPr>
        <p:spPr>
          <a:xfrm>
            <a:off x="6610350" y="3943350"/>
            <a:ext cx="4686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1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추천 장소를 좌표 기반 거리 그래프로 바꾸고 실제 방문 순서로 재배치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7D7E04B-A443-4EC5-A24A-97921DAD1A84}"/>
              </a:ext>
            </a:extLst>
          </p:cNvPr>
          <p:cNvSpPr>
            <a:spLocks noGrp="1"/>
          </p:cNvSpPr>
          <p:nvPr/>
        </p:nvSpPr>
        <p:spPr>
          <a:xfrm>
            <a:off x="6610350" y="4457700"/>
            <a:ext cx="468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1">
                <a:solidFill>
                  <a:srgbClr val="D95D47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D95D47"/>
                </a:solidFill>
                <a:latin typeface="Aptos"/>
                <a:ea typeface="Aptos"/>
                <a:cs typeface="Aptos"/>
              </a:rPr>
              <a:t>Graph / Priority Queue / Set · Dijkstra / Greedy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8EC2069-86D1-405E-91F6-1F3E74311C90}"/>
              </a:ext>
            </a:extLst>
          </p:cNvPr>
          <p:cNvSpPr>
            <a:spLocks noGrp="1"/>
          </p:cNvSpPr>
          <p:nvPr/>
        </p:nvSpPr>
        <p:spPr>
          <a:xfrm>
            <a:off x="6610350" y="4724400"/>
            <a:ext cx="468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8251D"/>
                </a:solidFill>
                <a:latin typeface="Aptos"/>
                <a:ea typeface="Aptos"/>
                <a:cs typeface="Aptos"/>
              </a:rPr>
              <a:t>출력: 최적 여행 코스와 개선율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89C8123-9E28-45F0-AD84-C27F300B61C5}"/>
              </a:ext>
            </a:extLst>
          </p:cNvPr>
          <p:cNvSpPr>
            <a:spLocks noGrp="1"/>
          </p:cNvSpPr>
          <p:nvPr/>
        </p:nvSpPr>
        <p:spPr>
          <a:xfrm>
            <a:off x="971550" y="5467350"/>
            <a:ext cx="102489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0EDA5CD-33E4-4551-87EE-2803C8543C2F}"/>
              </a:ext>
            </a:extLst>
          </p:cNvPr>
          <p:cNvSpPr>
            <a:spLocks noGrp="1"/>
          </p:cNvSpPr>
          <p:nvPr/>
        </p:nvSpPr>
        <p:spPr>
          <a:xfrm>
            <a:off x="971550" y="5467350"/>
            <a:ext cx="76200" cy="74295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A49D2F-1D3B-4591-9636-CD258ED95BB9}"/>
              </a:ext>
            </a:extLst>
          </p:cNvPr>
          <p:cNvSpPr>
            <a:spLocks noGrp="1"/>
          </p:cNvSpPr>
          <p:nvPr/>
        </p:nvSpPr>
        <p:spPr>
          <a:xfrm>
            <a:off x="1219200" y="563880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연결 기준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97871A-06ED-4733-A395-2AB79BCE5610}"/>
              </a:ext>
            </a:extLst>
          </p:cNvPr>
          <p:cNvSpPr>
            <a:spLocks noGrp="1"/>
          </p:cNvSpPr>
          <p:nvPr/>
        </p:nvSpPr>
        <p:spPr>
          <a:xfrm>
            <a:off x="2724150" y="5657850"/>
            <a:ext cx="8001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각 모듈은 내부 알고리즘은 다르지만, 최종적으로 place_id와 score를 다음 단계로 넘깁니다.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0DE7D9-ACC4-4D07-890C-0CCF8E838A92}"/>
              </a:ext>
            </a:extLst>
          </p:cNvPr>
          <p:cNvSpPr>
            <a:spLocks noGrp="1"/>
          </p:cNvSpPr>
          <p:nvPr/>
        </p:nvSpPr>
        <p:spPr>
          <a:xfrm>
            <a:off x="2724150" y="5924550"/>
            <a:ext cx="800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추천 모듈은 후보 장소를 만들고, 경로 최적화 모듈은 그 후보를 실제 여행 동선으로 바꿉니다.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89313A5-2661-4499-8FE4-562F5AB4448F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Graph Navigators | GraphTrip 기말 프로젝트</a:t>
            </a:r>
          </a:p>
        </p:txBody>
      </p:sp>
    </p:spTree>
    <p:extLst>
      <p:ext uri="{BB962C8B-B14F-4D97-AF65-F5344CB8AC3E}">
        <p14:creationId xmlns:p14="http://schemas.microsoft.com/office/powerpoint/2010/main" val="163722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6D7553C0-4EA4-45C9-AD9A-88AC5F3E8B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D545E6-5F0A-4D36-9068-2A1B8E26C0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F77A76-EE91-424D-BB36-C76DF2D2DC9F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ALGORITHM 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67F897-CFE2-4D0C-9B73-F912CF8EFB08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Collaborative Filtering은 비슷한 사용자의 좋아요를 추천 후보로 만듭니다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1BC056-9A51-43B1-B983-D5C2BB6426FE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55901E-12AE-4987-A3BA-1B3F1BA044C4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8A2E9F-7870-4D08-8965-63774EB086DE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CF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C09928-B1DF-41B7-A4E4-D265CAFBA704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282B43-5ECA-4DE0-A7BC-E72D212B6B0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32385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31951C-EE4B-44BF-8409-7658B4082283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6675" cy="16383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7D4C9B-F4A6-421D-8FB3-F8C039CF1E15}"/>
              </a:ext>
            </a:extLst>
          </p:cNvPr>
          <p:cNvSpPr>
            <a:spLocks noGrp="1"/>
          </p:cNvSpPr>
          <p:nvPr/>
        </p:nvSpPr>
        <p:spPr>
          <a:xfrm>
            <a:off x="800100" y="1581150"/>
            <a:ext cx="2895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1. 사용자별 좋아요 집합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24475F-DE0A-42DD-9C2C-6A6B5E869A2D}"/>
              </a:ext>
            </a:extLst>
          </p:cNvPr>
          <p:cNvSpPr>
            <a:spLocks noGrp="1"/>
          </p:cNvSpPr>
          <p:nvPr/>
        </p:nvSpPr>
        <p:spPr>
          <a:xfrm>
            <a:off x="800100" y="1905000"/>
            <a:ext cx="28956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user_likes.csv를 읽어 {user_id: set(place_id)} 형태의 Dictionary로 변환합니다.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7A93D9-BABC-4E52-B325-41EEBAE0699B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32385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4BC293-D5E9-479E-B475-D79B7CDF1874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66675" cy="16383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FD40A2-DF3B-445D-B68F-822C88BF8280}"/>
              </a:ext>
            </a:extLst>
          </p:cNvPr>
          <p:cNvSpPr>
            <a:spLocks noGrp="1"/>
          </p:cNvSpPr>
          <p:nvPr/>
        </p:nvSpPr>
        <p:spPr>
          <a:xfrm>
            <a:off x="4667250" y="1581150"/>
            <a:ext cx="2895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2. Jaccard Similarity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92699E4-3C05-4C29-9C9A-3F531F6AFC0F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28956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두 사용자의 좋아요 장소 집합에서 교집합 / 합집합 비율을 계산해 취향 유사도를 구합니다.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F35E5F-FCDE-4890-9A29-ABACBF7664C5}"/>
              </a:ext>
            </a:extLst>
          </p:cNvPr>
          <p:cNvSpPr>
            <a:spLocks noGrp="1"/>
          </p:cNvSpPr>
          <p:nvPr/>
        </p:nvSpPr>
        <p:spPr>
          <a:xfrm>
            <a:off x="8343900" y="1428750"/>
            <a:ext cx="32385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15485A-2504-4A52-9406-55A2B4E4205A}"/>
              </a:ext>
            </a:extLst>
          </p:cNvPr>
          <p:cNvSpPr>
            <a:spLocks noGrp="1"/>
          </p:cNvSpPr>
          <p:nvPr/>
        </p:nvSpPr>
        <p:spPr>
          <a:xfrm>
            <a:off x="8343900" y="1428750"/>
            <a:ext cx="66675" cy="163830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7F663BA-A62B-4A5E-8647-95A1ED200B7C}"/>
              </a:ext>
            </a:extLst>
          </p:cNvPr>
          <p:cNvSpPr>
            <a:spLocks noGrp="1"/>
          </p:cNvSpPr>
          <p:nvPr/>
        </p:nvSpPr>
        <p:spPr>
          <a:xfrm>
            <a:off x="8534400" y="1581150"/>
            <a:ext cx="2895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3. 후보 점수 누적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3851514-182C-43A0-A175-64584CBE726B}"/>
              </a:ext>
            </a:extLst>
          </p:cNvPr>
          <p:cNvSpPr>
            <a:spLocks noGrp="1"/>
          </p:cNvSpPr>
          <p:nvPr/>
        </p:nvSpPr>
        <p:spPr>
          <a:xfrm>
            <a:off x="8534400" y="1905000"/>
            <a:ext cx="28956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유사 사용자가 좋아했지만 현재 사용자는 좋아하지 않은 장소에 유사도 점수를 누적합니다.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9A054DE-C84D-459B-8D22-CFB54C8799C1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2322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224"/>
                </a:solidFill>
                <a:latin typeface="Aptos Display"/>
                <a:ea typeface="Aptos Display"/>
                <a:cs typeface="Aptos Display"/>
              </a:rPr>
              <a:t>J(A, B) = |A ∩ B| / |A ∪ B|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53F0A0F-768D-4A7F-9987-BAFC475BA244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981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사용 자료구조: Set은 교집합/합집합/차집합 계산, Dictionary는 사용자별 좋아요 집합과 후보 점수 저장, Heap은 Top-K 추천 추출에 사용됩니다.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440AC91-2BCD-4BE8-A552-7A74FB28FF7A}"/>
              </a:ext>
            </a:extLst>
          </p:cNvPr>
          <p:cNvSpPr>
            <a:spLocks noGrp="1"/>
          </p:cNvSpPr>
          <p:nvPr/>
        </p:nvSpPr>
        <p:spPr>
          <a:xfrm>
            <a:off x="914400" y="4953000"/>
            <a:ext cx="22860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24896DF-9982-4176-A004-A5920EE25C2C}"/>
              </a:ext>
            </a:extLst>
          </p:cNvPr>
          <p:cNvSpPr>
            <a:spLocks noGrp="1"/>
          </p:cNvSpPr>
          <p:nvPr/>
        </p:nvSpPr>
        <p:spPr>
          <a:xfrm>
            <a:off x="1066800" y="50863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64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64A"/>
                </a:solidFill>
                <a:latin typeface="Aptos Display"/>
                <a:ea typeface="Aptos Display"/>
                <a:cs typeface="Aptos Display"/>
              </a:rPr>
              <a:t>User1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677968F-EF6E-461D-B49F-14A5E60DE113}"/>
              </a:ext>
            </a:extLst>
          </p:cNvPr>
          <p:cNvSpPr>
            <a:spLocks noGrp="1"/>
          </p:cNvSpPr>
          <p:nvPr/>
        </p:nvSpPr>
        <p:spPr>
          <a:xfrm>
            <a:off x="1066800" y="5448300"/>
            <a:ext cx="1981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테스트 대상 사용자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FCFF3B6-2FA3-487B-B6CA-19F1CAF6DF64}"/>
              </a:ext>
            </a:extLst>
          </p:cNvPr>
          <p:cNvSpPr>
            <a:spLocks noGrp="1"/>
          </p:cNvSpPr>
          <p:nvPr/>
        </p:nvSpPr>
        <p:spPr>
          <a:xfrm>
            <a:off x="3638550" y="4953000"/>
            <a:ext cx="22860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4D37878-AAFF-40D6-B4BB-056C47964A04}"/>
              </a:ext>
            </a:extLst>
          </p:cNvPr>
          <p:cNvSpPr>
            <a:spLocks noGrp="1"/>
          </p:cNvSpPr>
          <p:nvPr/>
        </p:nvSpPr>
        <p:spPr>
          <a:xfrm>
            <a:off x="3790950" y="50863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86FA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86FA4"/>
                </a:solidFill>
                <a:latin typeface="Aptos Display"/>
                <a:ea typeface="Aptos Display"/>
                <a:cs typeface="Aptos Display"/>
              </a:rPr>
              <a:t>0.3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1D09B2E-BAC6-4DCF-9118-14D9C4A25FC2}"/>
              </a:ext>
            </a:extLst>
          </p:cNvPr>
          <p:cNvSpPr>
            <a:spLocks noGrp="1"/>
          </p:cNvSpPr>
          <p:nvPr/>
        </p:nvSpPr>
        <p:spPr>
          <a:xfrm>
            <a:off x="3790950" y="5448300"/>
            <a:ext cx="1981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유사도 threshold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DA5139-B3EA-4980-B34B-BE839E89079B}"/>
              </a:ext>
            </a:extLst>
          </p:cNvPr>
          <p:cNvSpPr>
            <a:spLocks noGrp="1"/>
          </p:cNvSpPr>
          <p:nvPr/>
        </p:nvSpPr>
        <p:spPr>
          <a:xfrm>
            <a:off x="6362700" y="4953000"/>
            <a:ext cx="22860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188227D-FB0A-4B8A-A4E5-4C1F785FEFD2}"/>
              </a:ext>
            </a:extLst>
          </p:cNvPr>
          <p:cNvSpPr>
            <a:spLocks noGrp="1"/>
          </p:cNvSpPr>
          <p:nvPr/>
        </p:nvSpPr>
        <p:spPr>
          <a:xfrm>
            <a:off x="6515100" y="50863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5D4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5D47"/>
                </a:solidFill>
                <a:latin typeface="Aptos Display"/>
                <a:ea typeface="Aptos Display"/>
                <a:cs typeface="Aptos Display"/>
              </a:rPr>
              <a:t>[6, 7, 3]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EDFC21F-BC61-434D-966E-6C2A1F8AA6B2}"/>
              </a:ext>
            </a:extLst>
          </p:cNvPr>
          <p:cNvSpPr>
            <a:spLocks noGrp="1"/>
          </p:cNvSpPr>
          <p:nvPr/>
        </p:nvSpPr>
        <p:spPr>
          <a:xfrm>
            <a:off x="6515100" y="5448300"/>
            <a:ext cx="1981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CF 추천 place_id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7F98112-26D3-4072-A149-399EB2FF2ED9}"/>
              </a:ext>
            </a:extLst>
          </p:cNvPr>
          <p:cNvSpPr>
            <a:spLocks noGrp="1"/>
          </p:cNvSpPr>
          <p:nvPr/>
        </p:nvSpPr>
        <p:spPr>
          <a:xfrm>
            <a:off x="9086850" y="4953000"/>
            <a:ext cx="22860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E31D8A5-6569-4782-917F-D09FE92B5AD5}"/>
              </a:ext>
            </a:extLst>
          </p:cNvPr>
          <p:cNvSpPr>
            <a:spLocks noGrp="1"/>
          </p:cNvSpPr>
          <p:nvPr/>
        </p:nvSpPr>
        <p:spPr>
          <a:xfrm>
            <a:off x="9239250" y="50863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9A2B"/>
                </a:solidFill>
                <a:latin typeface="Aptos Display"/>
                <a:ea typeface="Aptos Display"/>
                <a:cs typeface="Aptos Display"/>
              </a:rPr>
              <a:t>Heap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6719195-9780-4540-A4A9-6FB810DFF8F2}"/>
              </a:ext>
            </a:extLst>
          </p:cNvPr>
          <p:cNvSpPr>
            <a:spLocks noGrp="1"/>
          </p:cNvSpPr>
          <p:nvPr/>
        </p:nvSpPr>
        <p:spPr>
          <a:xfrm>
            <a:off x="9239250" y="5448300"/>
            <a:ext cx="1981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상위 K개 후보 추출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8F00F46-9923-4E33-BD65-6DD991757C3F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팀원1 CF 모듈 실행 결과 기준</a:t>
            </a:r>
          </a:p>
        </p:txBody>
      </p:sp>
    </p:spTree>
    <p:extLst>
      <p:ext uri="{BB962C8B-B14F-4D97-AF65-F5344CB8AC3E}">
        <p14:creationId xmlns:p14="http://schemas.microsoft.com/office/powerpoint/2010/main" val="1323143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F8CF9132-A8C3-4D42-891E-ED80B9BBFB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8D3417B-AE0A-4407-91CE-FBF7883779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5EC8B5-4C7A-4403-B446-4A7B268668B6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ALGORITHM 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B0402A-FACA-437C-83EF-1CEC75305E84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키워드 시스템은 자연어 키워드를 벡터와 군집으로 바꿉니다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1418E4-BC0E-4AB1-B5BD-8CDD1AC17FEC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986980-5663-4455-BDD6-126365E5CF28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FBC03B-6C5B-4742-8FEA-D6BCEF515B28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TF-IDF / K-Means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8EF348-C9A0-48B2-9235-C9E374731B15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38AE20-D7F5-4562-8DE9-EEF58A02B3EF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2571750" cy="14478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74E877-822A-42E3-BC5E-4D8655A986EA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66675" cy="14478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63E6EC-5881-455F-BC75-51069256FED0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2228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Trie + HashMap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29ABD3-A96C-4F13-882B-5E25B329B4E4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22288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키워드를 접두사 구조로 저장하고, 각 키워드를 벡터 인덱스로 매핑합니다.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E8E850-C173-4C34-9E6D-F5E1D433CC79}"/>
              </a:ext>
            </a:extLst>
          </p:cNvPr>
          <p:cNvSpPr>
            <a:spLocks noGrp="1"/>
          </p:cNvSpPr>
          <p:nvPr/>
        </p:nvSpPr>
        <p:spPr>
          <a:xfrm>
            <a:off x="3476625" y="1428750"/>
            <a:ext cx="2571750" cy="14478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6E5011-C1A5-46BC-920F-949C076D6C29}"/>
              </a:ext>
            </a:extLst>
          </p:cNvPr>
          <p:cNvSpPr>
            <a:spLocks noGrp="1"/>
          </p:cNvSpPr>
          <p:nvPr/>
        </p:nvSpPr>
        <p:spPr>
          <a:xfrm>
            <a:off x="3476625" y="1428750"/>
            <a:ext cx="66675" cy="144780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98E7F6-4C03-4813-BC54-0C903231EE7B}"/>
              </a:ext>
            </a:extLst>
          </p:cNvPr>
          <p:cNvSpPr>
            <a:spLocks noGrp="1"/>
          </p:cNvSpPr>
          <p:nvPr/>
        </p:nvSpPr>
        <p:spPr>
          <a:xfrm>
            <a:off x="3667125" y="1581150"/>
            <a:ext cx="2228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TF-IDF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FEE69E-D8EC-4D2B-A8D2-12D561CFA13F}"/>
              </a:ext>
            </a:extLst>
          </p:cNvPr>
          <p:cNvSpPr>
            <a:spLocks noGrp="1"/>
          </p:cNvSpPr>
          <p:nvPr/>
        </p:nvSpPr>
        <p:spPr>
          <a:xfrm>
            <a:off x="3667125" y="1905000"/>
            <a:ext cx="22288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장소별 키워드 리스트를 문서로 보고, 자주 등장하지 않는 특징 키워드에 더 큰 가중치를 부여합니다.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BE282B-84F9-4795-9BE5-7B815F49B6B2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2571750" cy="14478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38DAE1-E31B-4208-A4D6-EEAD38D4F48D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66675" cy="14478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7359CC-2AC2-4E2B-9C1C-21D57651AAAD}"/>
              </a:ext>
            </a:extLst>
          </p:cNvPr>
          <p:cNvSpPr>
            <a:spLocks noGrp="1"/>
          </p:cNvSpPr>
          <p:nvPr/>
        </p:nvSpPr>
        <p:spPr>
          <a:xfrm>
            <a:off x="6572250" y="1581150"/>
            <a:ext cx="2228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K-Means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81CF9DF-8CF9-45F9-8425-BD6130D1249A}"/>
              </a:ext>
            </a:extLst>
          </p:cNvPr>
          <p:cNvSpPr>
            <a:spLocks noGrp="1"/>
          </p:cNvSpPr>
          <p:nvPr/>
        </p:nvSpPr>
        <p:spPr>
          <a:xfrm>
            <a:off x="6572250" y="1905000"/>
            <a:ext cx="22288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TF-IDF 벡터의 유클리드 거리를 기준으로 유사한 키워드 성향의 장소를 3개 군집으로 분류합니다.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063D8D6-C8B3-492E-ACF1-1FEE49D88773}"/>
              </a:ext>
            </a:extLst>
          </p:cNvPr>
          <p:cNvSpPr>
            <a:spLocks noGrp="1"/>
          </p:cNvSpPr>
          <p:nvPr/>
        </p:nvSpPr>
        <p:spPr>
          <a:xfrm>
            <a:off x="9286875" y="1428750"/>
            <a:ext cx="2333625" cy="14478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9FCB1E-4623-4B28-8A69-960ADE55454E}"/>
              </a:ext>
            </a:extLst>
          </p:cNvPr>
          <p:cNvSpPr>
            <a:spLocks noGrp="1"/>
          </p:cNvSpPr>
          <p:nvPr/>
        </p:nvSpPr>
        <p:spPr>
          <a:xfrm>
            <a:off x="9286875" y="1428750"/>
            <a:ext cx="66675" cy="1447800"/>
          </a:xfrm>
          <a:prstGeom prst="rect">
            <a:avLst/>
          </a:prstGeom>
          <a:solidFill>
            <a:srgbClr val="D95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2C9522-1E33-4091-A59F-BAA2DE8C9DDA}"/>
              </a:ext>
            </a:extLst>
          </p:cNvPr>
          <p:cNvSpPr>
            <a:spLocks noGrp="1"/>
          </p:cNvSpPr>
          <p:nvPr/>
        </p:nvSpPr>
        <p:spPr>
          <a:xfrm>
            <a:off x="9477375" y="1581150"/>
            <a:ext cx="19907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Topic-Sensitive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67BD949-8181-437E-9218-615CFC5B73DB}"/>
              </a:ext>
            </a:extLst>
          </p:cNvPr>
          <p:cNvSpPr>
            <a:spLocks noGrp="1"/>
          </p:cNvSpPr>
          <p:nvPr/>
        </p:nvSpPr>
        <p:spPr>
          <a:xfrm>
            <a:off x="9477375" y="1905000"/>
            <a:ext cx="1990725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사용자 선호 키워드는 boost factor로 가중치를 높여 개인화 추천에 반영합니다.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379C102-5330-4867-B6B5-597141E14648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114300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0EC618-9024-48DC-9D5F-42EF7FC3F68A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990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군집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9F43B6C-B7F4-4DA9-A6FD-ED3AFF5C2315}"/>
              </a:ext>
            </a:extLst>
          </p:cNvPr>
          <p:cNvSpPr>
            <a:spLocks noGrp="1"/>
          </p:cNvSpPr>
          <p:nvPr/>
        </p:nvSpPr>
        <p:spPr>
          <a:xfrm>
            <a:off x="2019300" y="3333750"/>
            <a:ext cx="272415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6C2F0C5-BB9E-4654-80B7-86D6F770A9CC}"/>
              </a:ext>
            </a:extLst>
          </p:cNvPr>
          <p:cNvSpPr>
            <a:spLocks noGrp="1"/>
          </p:cNvSpPr>
          <p:nvPr/>
        </p:nvSpPr>
        <p:spPr>
          <a:xfrm>
            <a:off x="2095500" y="3429000"/>
            <a:ext cx="2571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대표 키워드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EA02F00-2CAB-4AD2-97F7-EE7896C57E5B}"/>
              </a:ext>
            </a:extLst>
          </p:cNvPr>
          <p:cNvSpPr>
            <a:spLocks noGrp="1"/>
          </p:cNvSpPr>
          <p:nvPr/>
        </p:nvSpPr>
        <p:spPr>
          <a:xfrm>
            <a:off x="4743450" y="3333750"/>
            <a:ext cx="573405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B78B396-35BB-4BF5-8E7E-A8FA100E44F0}"/>
              </a:ext>
            </a:extLst>
          </p:cNvPr>
          <p:cNvSpPr>
            <a:spLocks noGrp="1"/>
          </p:cNvSpPr>
          <p:nvPr/>
        </p:nvSpPr>
        <p:spPr>
          <a:xfrm>
            <a:off x="4819650" y="3429000"/>
            <a:ext cx="5581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분류된 장소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4024CA9-7F1D-459A-8D22-7A13E3D2EC2B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11430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59C0A8-9339-4F26-A80A-FAAD04B01551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990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55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55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D1F91A7-9DE1-4B3A-BC76-CC527899AA3E}"/>
              </a:ext>
            </a:extLst>
          </p:cNvPr>
          <p:cNvSpPr>
            <a:spLocks noGrp="1"/>
          </p:cNvSpPr>
          <p:nvPr/>
        </p:nvSpPr>
        <p:spPr>
          <a:xfrm>
            <a:off x="2019300" y="3657600"/>
            <a:ext cx="27241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D7C37EC-28C2-478A-A391-62B67B7E3C64}"/>
              </a:ext>
            </a:extLst>
          </p:cNvPr>
          <p:cNvSpPr>
            <a:spLocks noGrp="1"/>
          </p:cNvSpPr>
          <p:nvPr/>
        </p:nvSpPr>
        <p:spPr>
          <a:xfrm>
            <a:off x="2095500" y="373380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5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야경 · 데이트 · 산책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1FEB15C-3DDE-42F6-90BB-AC3F901F7F1F}"/>
              </a:ext>
            </a:extLst>
          </p:cNvPr>
          <p:cNvSpPr>
            <a:spLocks noGrp="1"/>
          </p:cNvSpPr>
          <p:nvPr/>
        </p:nvSpPr>
        <p:spPr>
          <a:xfrm>
            <a:off x="4743450" y="3657600"/>
            <a:ext cx="57340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7553E58-1A55-439B-8A2D-5B4E8C27D778}"/>
              </a:ext>
            </a:extLst>
          </p:cNvPr>
          <p:cNvSpPr>
            <a:spLocks noGrp="1"/>
          </p:cNvSpPr>
          <p:nvPr/>
        </p:nvSpPr>
        <p:spPr>
          <a:xfrm>
            <a:off x="4819650" y="3733800"/>
            <a:ext cx="5581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5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동궁과 월지, 경주월드, 보문호, 월정교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D910AEE-C980-4C69-B2DC-E7E41EF45A80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143000" cy="59055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6197635-69D4-4A46-B28C-B8114371F335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990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55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55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057492B-06F0-462A-97A4-9A692EBDD1AE}"/>
              </a:ext>
            </a:extLst>
          </p:cNvPr>
          <p:cNvSpPr>
            <a:spLocks noGrp="1"/>
          </p:cNvSpPr>
          <p:nvPr/>
        </p:nvSpPr>
        <p:spPr>
          <a:xfrm>
            <a:off x="2019300" y="4248150"/>
            <a:ext cx="2724150" cy="59055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A904078-BD9A-4EBC-9F1B-85A7EF17DBDC}"/>
              </a:ext>
            </a:extLst>
          </p:cNvPr>
          <p:cNvSpPr>
            <a:spLocks noGrp="1"/>
          </p:cNvSpPr>
          <p:nvPr/>
        </p:nvSpPr>
        <p:spPr>
          <a:xfrm>
            <a:off x="2095500" y="432435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5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감성적인 · 데이트 · 한옥감성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E699E64-85AC-4CF6-B74C-4452AF900CED}"/>
              </a:ext>
            </a:extLst>
          </p:cNvPr>
          <p:cNvSpPr>
            <a:spLocks noGrp="1"/>
          </p:cNvSpPr>
          <p:nvPr/>
        </p:nvSpPr>
        <p:spPr>
          <a:xfrm>
            <a:off x="4743450" y="4248150"/>
            <a:ext cx="5734050" cy="59055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83EB304-0F93-495E-AD77-95866FBDBCDD}"/>
              </a:ext>
            </a:extLst>
          </p:cNvPr>
          <p:cNvSpPr>
            <a:spLocks noGrp="1"/>
          </p:cNvSpPr>
          <p:nvPr/>
        </p:nvSpPr>
        <p:spPr>
          <a:xfrm>
            <a:off x="4819650" y="4324350"/>
            <a:ext cx="5581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5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황리단길, 교촌한옥마을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6725193-7839-4FE7-8DFE-2DAA5B565D46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11430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EFE9859-B2CC-44C1-A8EF-55E3DC62B070}"/>
              </a:ext>
            </a:extLst>
          </p:cNvPr>
          <p:cNvSpPr>
            <a:spLocks noGrp="1"/>
          </p:cNvSpPr>
          <p:nvPr/>
        </p:nvSpPr>
        <p:spPr>
          <a:xfrm>
            <a:off x="952500" y="4914900"/>
            <a:ext cx="990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55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55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2ABEA58-BE3B-4D5B-8C8D-89AEDAC384C2}"/>
              </a:ext>
            </a:extLst>
          </p:cNvPr>
          <p:cNvSpPr>
            <a:spLocks noGrp="1"/>
          </p:cNvSpPr>
          <p:nvPr/>
        </p:nvSpPr>
        <p:spPr>
          <a:xfrm>
            <a:off x="2019300" y="4838700"/>
            <a:ext cx="27241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33FDEBC-AAD1-4028-9564-A5686BCD3A09}"/>
              </a:ext>
            </a:extLst>
          </p:cNvPr>
          <p:cNvSpPr>
            <a:spLocks noGrp="1"/>
          </p:cNvSpPr>
          <p:nvPr/>
        </p:nvSpPr>
        <p:spPr>
          <a:xfrm>
            <a:off x="2095500" y="491490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5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전통적인 · 고즈넉한 · 역사탐방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2737CF7-9278-4EB1-955F-B9F8D9AB6294}"/>
              </a:ext>
            </a:extLst>
          </p:cNvPr>
          <p:cNvSpPr>
            <a:spLocks noGrp="1"/>
          </p:cNvSpPr>
          <p:nvPr/>
        </p:nvSpPr>
        <p:spPr>
          <a:xfrm>
            <a:off x="4743450" y="4838700"/>
            <a:ext cx="57340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ADC521D-F4B7-481F-9557-C2CA810158E9}"/>
              </a:ext>
            </a:extLst>
          </p:cNvPr>
          <p:cNvSpPr>
            <a:spLocks noGrp="1"/>
          </p:cNvSpPr>
          <p:nvPr/>
        </p:nvSpPr>
        <p:spPr>
          <a:xfrm>
            <a:off x="4819650" y="4914900"/>
            <a:ext cx="5581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5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첨성대, 불국사, 석굴암, 국립경주박물관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18FB40F-20F9-48AD-95EC-275CC8C77B4E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971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K-Means 군집 결과는 장소를 키워드 성향별로 나누어 추천 설명과 탐색 화면에 활용합니다.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C13DE62-920D-4DC7-9C25-1063D54C3740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팀원2 키워드 분석 모듈 결과 기준</a:t>
            </a:r>
          </a:p>
        </p:txBody>
      </p:sp>
    </p:spTree>
    <p:extLst>
      <p:ext uri="{BB962C8B-B14F-4D97-AF65-F5344CB8AC3E}">
        <p14:creationId xmlns:p14="http://schemas.microsoft.com/office/powerpoint/2010/main" val="67622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86755906-D15C-472E-A2F5-536F4712ED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C941B8-3EA5-45DD-99FB-6464C52AB4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DE4707-D0AC-4940-8044-99BC25051AF5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ALGORITHM 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D4F4E4-CF35-4818-A61A-E007B6388228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키워드와 CF 후보를 그래프 위에서 확산합니다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00F387-DEB5-469C-982B-B0E761A4C503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300C39-7F6B-4726-A899-2B7986D057AC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223821-C155-43EC-88CB-FDDD885C6FEF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RWR / PPR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659E93-4649-4D32-9F61-BD4C0F161282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845C63-83A7-4782-A535-B7E8F0196A7A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2543175" cy="1428750"/>
          </a:xfrm>
          <a:prstGeom prst="rect">
            <a:avLst/>
          </a:prstGeom>
          <a:solidFill>
            <a:srgbClr val="EAF2E5"/>
          </a:solidFill>
          <a:ln w="12383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235A11-F5CF-404A-B3E6-D362249B0C84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2543175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C64725-C5EB-424B-9B1B-8C194F24998F}"/>
              </a:ext>
            </a:extLst>
          </p:cNvPr>
          <p:cNvSpPr>
            <a:spLocks noGrp="1"/>
          </p:cNvSpPr>
          <p:nvPr/>
        </p:nvSpPr>
        <p:spPr>
          <a:xfrm>
            <a:off x="895350" y="1676400"/>
            <a:ext cx="23145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Seed 구성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4AB868B-80DF-44F0-B880-A1460E3A1AEF}"/>
              </a:ext>
            </a:extLst>
          </p:cNvPr>
          <p:cNvSpPr>
            <a:spLocks noGrp="1"/>
          </p:cNvSpPr>
          <p:nvPr/>
        </p:nvSpPr>
        <p:spPr>
          <a:xfrm>
            <a:off x="914400" y="2038350"/>
            <a:ext cx="22764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선택 키워드 매칭 장소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+ CF 후보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A5C2C7-1B05-4728-9880-3CA6E46FE1AF}"/>
              </a:ext>
            </a:extLst>
          </p:cNvPr>
          <p:cNvSpPr>
            <a:spLocks noGrp="1"/>
          </p:cNvSpPr>
          <p:nvPr/>
        </p:nvSpPr>
        <p:spPr>
          <a:xfrm>
            <a:off x="3343275" y="21621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FEDA19-E866-4BA0-AE85-0AEC6F0EF7A6}"/>
              </a:ext>
            </a:extLst>
          </p:cNvPr>
          <p:cNvSpPr>
            <a:spLocks noGrp="1"/>
          </p:cNvSpPr>
          <p:nvPr/>
        </p:nvSpPr>
        <p:spPr>
          <a:xfrm>
            <a:off x="3476625" y="1466850"/>
            <a:ext cx="2543175" cy="1428750"/>
          </a:xfrm>
          <a:prstGeom prst="rect">
            <a:avLst/>
          </a:prstGeom>
          <a:solidFill>
            <a:srgbClr val="E9F1FA"/>
          </a:solidFill>
          <a:ln w="12383">
            <a:solidFill>
              <a:srgbClr val="38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D90C51E-EA3B-4233-A218-DA4E7244564F}"/>
              </a:ext>
            </a:extLst>
          </p:cNvPr>
          <p:cNvSpPr>
            <a:spLocks noGrp="1"/>
          </p:cNvSpPr>
          <p:nvPr/>
        </p:nvSpPr>
        <p:spPr>
          <a:xfrm>
            <a:off x="3476625" y="1466850"/>
            <a:ext cx="2543175" cy="762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11D71C-DCD5-4E0F-9DBD-13D82C85ED83}"/>
              </a:ext>
            </a:extLst>
          </p:cNvPr>
          <p:cNvSpPr>
            <a:spLocks noGrp="1"/>
          </p:cNvSpPr>
          <p:nvPr/>
        </p:nvSpPr>
        <p:spPr>
          <a:xfrm>
            <a:off x="3590925" y="1676400"/>
            <a:ext cx="23145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Weighted Graph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55D946-B76D-461C-ACC3-70BD10C43D0E}"/>
              </a:ext>
            </a:extLst>
          </p:cNvPr>
          <p:cNvSpPr>
            <a:spLocks noGrp="1"/>
          </p:cNvSpPr>
          <p:nvPr/>
        </p:nvSpPr>
        <p:spPr>
          <a:xfrm>
            <a:off x="3609975" y="2038350"/>
            <a:ext cx="22764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장소 간 키워드 유사도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가중 간선 생성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BC25BB-CBEF-4564-A199-17982B9A564B}"/>
              </a:ext>
            </a:extLst>
          </p:cNvPr>
          <p:cNvSpPr>
            <a:spLocks noGrp="1"/>
          </p:cNvSpPr>
          <p:nvPr/>
        </p:nvSpPr>
        <p:spPr>
          <a:xfrm>
            <a:off x="6038850" y="21621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600AAD-118F-4CF2-B41F-751C5D2123EB}"/>
              </a:ext>
            </a:extLst>
          </p:cNvPr>
          <p:cNvSpPr>
            <a:spLocks noGrp="1"/>
          </p:cNvSpPr>
          <p:nvPr/>
        </p:nvSpPr>
        <p:spPr>
          <a:xfrm>
            <a:off x="6172200" y="1466850"/>
            <a:ext cx="2543175" cy="1428750"/>
          </a:xfrm>
          <a:prstGeom prst="rect">
            <a:avLst/>
          </a:prstGeom>
          <a:solidFill>
            <a:srgbClr val="FBF1DA"/>
          </a:solidFill>
          <a:ln w="12383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6D8E86-C53A-413B-81A4-3EB5083249C3}"/>
              </a:ext>
            </a:extLst>
          </p:cNvPr>
          <p:cNvSpPr>
            <a:spLocks noGrp="1"/>
          </p:cNvSpPr>
          <p:nvPr/>
        </p:nvSpPr>
        <p:spPr>
          <a:xfrm>
            <a:off x="6172200" y="1466850"/>
            <a:ext cx="2543175" cy="7620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C391B40-51D1-4FD8-9FD8-EBDD9030CA21}"/>
              </a:ext>
            </a:extLst>
          </p:cNvPr>
          <p:cNvSpPr>
            <a:spLocks noGrp="1"/>
          </p:cNvSpPr>
          <p:nvPr/>
        </p:nvSpPr>
        <p:spPr>
          <a:xfrm>
            <a:off x="6286500" y="1676400"/>
            <a:ext cx="23145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RWR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C9BC547-13C0-4B77-90D2-7F338C2E62A4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22764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씨드에서 출발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재시작 확률 반영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6F6C977-D4BD-4A43-8431-1743602C299D}"/>
              </a:ext>
            </a:extLst>
          </p:cNvPr>
          <p:cNvSpPr>
            <a:spLocks noGrp="1"/>
          </p:cNvSpPr>
          <p:nvPr/>
        </p:nvSpPr>
        <p:spPr>
          <a:xfrm>
            <a:off x="8734425" y="21621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311D15C-5979-4CCA-B4D1-7455C959B7B9}"/>
              </a:ext>
            </a:extLst>
          </p:cNvPr>
          <p:cNvSpPr>
            <a:spLocks noGrp="1"/>
          </p:cNvSpPr>
          <p:nvPr/>
        </p:nvSpPr>
        <p:spPr>
          <a:xfrm>
            <a:off x="8867775" y="1466850"/>
            <a:ext cx="2543175" cy="1428750"/>
          </a:xfrm>
          <a:prstGeom prst="rect">
            <a:avLst/>
          </a:prstGeom>
          <a:solidFill>
            <a:srgbClr val="FBE8E3"/>
          </a:solidFill>
          <a:ln w="12383">
            <a:solidFill>
              <a:srgbClr val="D95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4ADE94-F311-41CB-B5E3-934750831E30}"/>
              </a:ext>
            </a:extLst>
          </p:cNvPr>
          <p:cNvSpPr>
            <a:spLocks noGrp="1"/>
          </p:cNvSpPr>
          <p:nvPr/>
        </p:nvSpPr>
        <p:spPr>
          <a:xfrm>
            <a:off x="8867775" y="1466850"/>
            <a:ext cx="2543175" cy="76200"/>
          </a:xfrm>
          <a:prstGeom prst="rect">
            <a:avLst/>
          </a:prstGeom>
          <a:solidFill>
            <a:srgbClr val="D95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2B67A32-C499-4DA8-B50E-6C238E6ACB4D}"/>
              </a:ext>
            </a:extLst>
          </p:cNvPr>
          <p:cNvSpPr>
            <a:spLocks noGrp="1"/>
          </p:cNvSpPr>
          <p:nvPr/>
        </p:nvSpPr>
        <p:spPr>
          <a:xfrm>
            <a:off x="8982075" y="1676400"/>
            <a:ext cx="23145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PPR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A319BE-687C-4ED2-AD77-15CBAFCDAAB1}"/>
              </a:ext>
            </a:extLst>
          </p:cNvPr>
          <p:cNvSpPr>
            <a:spLocks noGrp="1"/>
          </p:cNvSpPr>
          <p:nvPr/>
        </p:nvSpPr>
        <p:spPr>
          <a:xfrm>
            <a:off x="9001125" y="2038350"/>
            <a:ext cx="22764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방문 횟수 정규화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개인화 점수 산출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7B9DED-80A5-46FD-83A6-020D8DF4C316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4476750" cy="15240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43FC7A-FC48-4C3C-9F1B-1A1FF5E049FE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66675" cy="15240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3849603-59FB-40FB-B1DA-C6956FB92584}"/>
              </a:ext>
            </a:extLst>
          </p:cNvPr>
          <p:cNvSpPr>
            <a:spLocks noGrp="1"/>
          </p:cNvSpPr>
          <p:nvPr/>
        </p:nvSpPr>
        <p:spPr>
          <a:xfrm>
            <a:off x="971550" y="3486150"/>
            <a:ext cx="4133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왜 그래프인가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0A4D43F-1BE9-451F-894F-52EFCF8991F9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41338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8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장소를 노드로 두고, 키워드 유사도를 간선 가중치로 두면 사용자의 취향이 비슷한 장소 주변으로 추천 점수가 자연스럽게 퍼집니다.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5BE287E-E844-4849-ADDB-FB6850FF9864}"/>
              </a:ext>
            </a:extLst>
          </p:cNvPr>
          <p:cNvSpPr>
            <a:spLocks noGrp="1"/>
          </p:cNvSpPr>
          <p:nvPr/>
        </p:nvSpPr>
        <p:spPr>
          <a:xfrm>
            <a:off x="5810250" y="3333750"/>
            <a:ext cx="161925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CBF5972-476D-453F-867B-7B6C5836F260}"/>
              </a:ext>
            </a:extLst>
          </p:cNvPr>
          <p:cNvSpPr>
            <a:spLocks noGrp="1"/>
          </p:cNvSpPr>
          <p:nvPr/>
        </p:nvSpPr>
        <p:spPr>
          <a:xfrm>
            <a:off x="5886450" y="3429000"/>
            <a:ext cx="1466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추천 장소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B7F707-2A35-4B14-A763-B4CA2E49F6DE}"/>
              </a:ext>
            </a:extLst>
          </p:cNvPr>
          <p:cNvSpPr>
            <a:spLocks noGrp="1"/>
          </p:cNvSpPr>
          <p:nvPr/>
        </p:nvSpPr>
        <p:spPr>
          <a:xfrm>
            <a:off x="7429500" y="3333750"/>
            <a:ext cx="152400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DF538E2-4E9B-46A8-B9A2-9404655B15AC}"/>
              </a:ext>
            </a:extLst>
          </p:cNvPr>
          <p:cNvSpPr>
            <a:spLocks noGrp="1"/>
          </p:cNvSpPr>
          <p:nvPr/>
        </p:nvSpPr>
        <p:spPr>
          <a:xfrm>
            <a:off x="7505700" y="3429000"/>
            <a:ext cx="1371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점수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1FA4603-0559-4291-86EA-1965E935F309}"/>
              </a:ext>
            </a:extLst>
          </p:cNvPr>
          <p:cNvSpPr>
            <a:spLocks noGrp="1"/>
          </p:cNvSpPr>
          <p:nvPr/>
        </p:nvSpPr>
        <p:spPr>
          <a:xfrm>
            <a:off x="8953500" y="3333750"/>
            <a:ext cx="274320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E3AA2D5-1053-471F-B63B-EFD908DBF7CF}"/>
              </a:ext>
            </a:extLst>
          </p:cNvPr>
          <p:cNvSpPr>
            <a:spLocks noGrp="1"/>
          </p:cNvSpPr>
          <p:nvPr/>
        </p:nvSpPr>
        <p:spPr>
          <a:xfrm>
            <a:off x="9029700" y="3429000"/>
            <a:ext cx="2590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추천 이유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31FE012-796C-49EB-A8F3-A8380D8A2903}"/>
              </a:ext>
            </a:extLst>
          </p:cNvPr>
          <p:cNvSpPr>
            <a:spLocks noGrp="1"/>
          </p:cNvSpPr>
          <p:nvPr/>
        </p:nvSpPr>
        <p:spPr>
          <a:xfrm>
            <a:off x="5810250" y="3657600"/>
            <a:ext cx="161925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4C99819-23DA-4295-882A-79EA34A952B4}"/>
              </a:ext>
            </a:extLst>
          </p:cNvPr>
          <p:cNvSpPr>
            <a:spLocks noGrp="1"/>
          </p:cNvSpPr>
          <p:nvPr/>
        </p:nvSpPr>
        <p:spPr>
          <a:xfrm>
            <a:off x="5886450" y="373380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보문호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4B37672-B2AA-4F7A-B1E3-74F5A73C18DA}"/>
              </a:ext>
            </a:extLst>
          </p:cNvPr>
          <p:cNvSpPr>
            <a:spLocks noGrp="1"/>
          </p:cNvSpPr>
          <p:nvPr/>
        </p:nvSpPr>
        <p:spPr>
          <a:xfrm>
            <a:off x="7429500" y="3657600"/>
            <a:ext cx="152400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01F6582-21CE-4A5F-B2B7-DD133E0D3FD0}"/>
              </a:ext>
            </a:extLst>
          </p:cNvPr>
          <p:cNvSpPr>
            <a:spLocks noGrp="1"/>
          </p:cNvSpPr>
          <p:nvPr/>
        </p:nvSpPr>
        <p:spPr>
          <a:xfrm>
            <a:off x="7505700" y="3733800"/>
            <a:ext cx="1371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0.2308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90C05C6-8C6B-4ED1-B318-327B270D10D7}"/>
              </a:ext>
            </a:extLst>
          </p:cNvPr>
          <p:cNvSpPr>
            <a:spLocks noGrp="1"/>
          </p:cNvSpPr>
          <p:nvPr/>
        </p:nvSpPr>
        <p:spPr>
          <a:xfrm>
            <a:off x="8953500" y="3657600"/>
            <a:ext cx="274320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C28FA2A-471A-402A-85E5-35B3A1E4B151}"/>
              </a:ext>
            </a:extLst>
          </p:cNvPr>
          <p:cNvSpPr>
            <a:spLocks noGrp="1"/>
          </p:cNvSpPr>
          <p:nvPr/>
        </p:nvSpPr>
        <p:spPr>
          <a:xfrm>
            <a:off x="9029700" y="3733800"/>
            <a:ext cx="2590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야경 키워드 기반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BB15400-FCB1-4D8E-9B90-89A8DBBE9D36}"/>
              </a:ext>
            </a:extLst>
          </p:cNvPr>
          <p:cNvSpPr>
            <a:spLocks noGrp="1"/>
          </p:cNvSpPr>
          <p:nvPr/>
        </p:nvSpPr>
        <p:spPr>
          <a:xfrm>
            <a:off x="5810250" y="4152900"/>
            <a:ext cx="1619250" cy="4953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B131897-9FEF-4DB5-BCCA-BD3AC82FA4AA}"/>
              </a:ext>
            </a:extLst>
          </p:cNvPr>
          <p:cNvSpPr>
            <a:spLocks noGrp="1"/>
          </p:cNvSpPr>
          <p:nvPr/>
        </p:nvSpPr>
        <p:spPr>
          <a:xfrm>
            <a:off x="5886450" y="422910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첨성대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6C951B2-C25A-4C51-A17A-05532A9E32CA}"/>
              </a:ext>
            </a:extLst>
          </p:cNvPr>
          <p:cNvSpPr>
            <a:spLocks noGrp="1"/>
          </p:cNvSpPr>
          <p:nvPr/>
        </p:nvSpPr>
        <p:spPr>
          <a:xfrm>
            <a:off x="7429500" y="4152900"/>
            <a:ext cx="1524000" cy="4953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FADCB62-BA0E-48E7-BD12-BD9C17F50D98}"/>
              </a:ext>
            </a:extLst>
          </p:cNvPr>
          <p:cNvSpPr>
            <a:spLocks noGrp="1"/>
          </p:cNvSpPr>
          <p:nvPr/>
        </p:nvSpPr>
        <p:spPr>
          <a:xfrm>
            <a:off x="7505700" y="4229100"/>
            <a:ext cx="1371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0.2258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BCD29E3-AB9B-459A-A5D5-49EBB9C87D48}"/>
              </a:ext>
            </a:extLst>
          </p:cNvPr>
          <p:cNvSpPr>
            <a:spLocks noGrp="1"/>
          </p:cNvSpPr>
          <p:nvPr/>
        </p:nvSpPr>
        <p:spPr>
          <a:xfrm>
            <a:off x="8953500" y="4152900"/>
            <a:ext cx="2743200" cy="49530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082F586-918A-47E9-BB9B-8DC6A8AB92BA}"/>
              </a:ext>
            </a:extLst>
          </p:cNvPr>
          <p:cNvSpPr>
            <a:spLocks noGrp="1"/>
          </p:cNvSpPr>
          <p:nvPr/>
        </p:nvSpPr>
        <p:spPr>
          <a:xfrm>
            <a:off x="9029700" y="4229100"/>
            <a:ext cx="2590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CF 후보 기반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1CE7D29-1B07-4B5F-B1F3-50C339F1BD3D}"/>
              </a:ext>
            </a:extLst>
          </p:cNvPr>
          <p:cNvSpPr>
            <a:spLocks noGrp="1"/>
          </p:cNvSpPr>
          <p:nvPr/>
        </p:nvSpPr>
        <p:spPr>
          <a:xfrm>
            <a:off x="5810250" y="4648200"/>
            <a:ext cx="161925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EF4B5CE-938E-401B-B8C1-E78B13F0D908}"/>
              </a:ext>
            </a:extLst>
          </p:cNvPr>
          <p:cNvSpPr>
            <a:spLocks noGrp="1"/>
          </p:cNvSpPr>
          <p:nvPr/>
        </p:nvSpPr>
        <p:spPr>
          <a:xfrm>
            <a:off x="5886450" y="472440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석굴암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467AC6E-50F6-45FA-A4A4-F1BD1FBB0C8A}"/>
              </a:ext>
            </a:extLst>
          </p:cNvPr>
          <p:cNvSpPr>
            <a:spLocks noGrp="1"/>
          </p:cNvSpPr>
          <p:nvPr/>
        </p:nvSpPr>
        <p:spPr>
          <a:xfrm>
            <a:off x="7429500" y="4648200"/>
            <a:ext cx="152400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705629D-2D66-4711-A236-95D682252CDA}"/>
              </a:ext>
            </a:extLst>
          </p:cNvPr>
          <p:cNvSpPr>
            <a:spLocks noGrp="1"/>
          </p:cNvSpPr>
          <p:nvPr/>
        </p:nvSpPr>
        <p:spPr>
          <a:xfrm>
            <a:off x="7505700" y="4724400"/>
            <a:ext cx="1371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0.2035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36A8258-A2AA-44C8-BC64-AD44C32C31F8}"/>
              </a:ext>
            </a:extLst>
          </p:cNvPr>
          <p:cNvSpPr>
            <a:spLocks noGrp="1"/>
          </p:cNvSpPr>
          <p:nvPr/>
        </p:nvSpPr>
        <p:spPr>
          <a:xfrm>
            <a:off x="8953500" y="4648200"/>
            <a:ext cx="2743200" cy="49530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40831D2-96E7-47A0-AEE9-1FED93A2289E}"/>
              </a:ext>
            </a:extLst>
          </p:cNvPr>
          <p:cNvSpPr>
            <a:spLocks noGrp="1"/>
          </p:cNvSpPr>
          <p:nvPr/>
        </p:nvSpPr>
        <p:spPr>
          <a:xfrm>
            <a:off x="9029700" y="4724400"/>
            <a:ext cx="2590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연관 장소 추천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B1E5D54-F111-40AE-8727-FAFF362F7536}"/>
              </a:ext>
            </a:extLst>
          </p:cNvPr>
          <p:cNvSpPr>
            <a:spLocks noGrp="1"/>
          </p:cNvSpPr>
          <p:nvPr/>
        </p:nvSpPr>
        <p:spPr>
          <a:xfrm>
            <a:off x="781050" y="537210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사용 자료구조: Weighted Graph는 장소 간 관계를 저장하고, Dictionary는 점수와 방문 횟수, 추천 이유를 관리합니다.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CB6778C-0B95-45D7-9664-372171741B7E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팀원3 개인화 추천 모듈 예시 결과</a:t>
            </a:r>
          </a:p>
        </p:txBody>
      </p:sp>
    </p:spTree>
    <p:extLst>
      <p:ext uri="{BB962C8B-B14F-4D97-AF65-F5344CB8AC3E}">
        <p14:creationId xmlns:p14="http://schemas.microsoft.com/office/powerpoint/2010/main" val="812485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830E415E-457F-4EA6-B361-4F1DB40BB6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40A39B-7854-41E8-910B-BF1C3711B0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FA3D47-7728-48FC-87E1-8CC0A01FD8A5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ALGORITHM 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BD354E-2F4D-4E93-A615-04058918DBD1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경로 최적화는 추천 목록을 실제 방문 순서로 바꿉니다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E5A9B7-DA17-474C-9BD3-E0668E1F2D10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010FAD-3F12-4D9C-9B9A-80B23EA570B7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53FEB5-FBEA-400B-8648-6D82FA1F3C94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Dijkstra / Greedy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2EF366-F446-4F15-9BA6-A735F6E98C57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BDADB68-89BC-45C1-9FAF-804A71CF5609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2543175" cy="1428750"/>
          </a:xfrm>
          <a:prstGeom prst="rect">
            <a:avLst/>
          </a:prstGeom>
          <a:solidFill>
            <a:srgbClr val="EAF2E5"/>
          </a:solidFill>
          <a:ln w="12383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78AEEC-59E0-4E05-ABA8-B9295466E976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2543175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10449C-458F-47FB-9152-AC8F539707D2}"/>
              </a:ext>
            </a:extLst>
          </p:cNvPr>
          <p:cNvSpPr>
            <a:spLocks noGrp="1"/>
          </p:cNvSpPr>
          <p:nvPr/>
        </p:nvSpPr>
        <p:spPr>
          <a:xfrm>
            <a:off x="895350" y="1676400"/>
            <a:ext cx="23145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좌표 로드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CAF87D-47A3-484E-B22D-27444ABDA592}"/>
              </a:ext>
            </a:extLst>
          </p:cNvPr>
          <p:cNvSpPr>
            <a:spLocks noGrp="1"/>
          </p:cNvSpPr>
          <p:nvPr/>
        </p:nvSpPr>
        <p:spPr>
          <a:xfrm>
            <a:off x="914400" y="2038350"/>
            <a:ext cx="22764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places.json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lat / lng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D7AE9FA-1CA8-4B78-BB7F-F0CE3ABE8F91}"/>
              </a:ext>
            </a:extLst>
          </p:cNvPr>
          <p:cNvSpPr>
            <a:spLocks noGrp="1"/>
          </p:cNvSpPr>
          <p:nvPr/>
        </p:nvSpPr>
        <p:spPr>
          <a:xfrm>
            <a:off x="3343275" y="21621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FAFDD2-BAC8-4FA9-9824-000328EEE0BC}"/>
              </a:ext>
            </a:extLst>
          </p:cNvPr>
          <p:cNvSpPr>
            <a:spLocks noGrp="1"/>
          </p:cNvSpPr>
          <p:nvPr/>
        </p:nvSpPr>
        <p:spPr>
          <a:xfrm>
            <a:off x="3476625" y="1466850"/>
            <a:ext cx="2543175" cy="1428750"/>
          </a:xfrm>
          <a:prstGeom prst="rect">
            <a:avLst/>
          </a:prstGeom>
          <a:solidFill>
            <a:srgbClr val="FBF1DA"/>
          </a:solidFill>
          <a:ln w="12383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9B8D07-265F-4781-81F8-B4040A715718}"/>
              </a:ext>
            </a:extLst>
          </p:cNvPr>
          <p:cNvSpPr>
            <a:spLocks noGrp="1"/>
          </p:cNvSpPr>
          <p:nvPr/>
        </p:nvSpPr>
        <p:spPr>
          <a:xfrm>
            <a:off x="3476625" y="1466850"/>
            <a:ext cx="2543175" cy="7620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D4AC4D-C895-4ECA-B693-00E8D355ED2C}"/>
              </a:ext>
            </a:extLst>
          </p:cNvPr>
          <p:cNvSpPr>
            <a:spLocks noGrp="1"/>
          </p:cNvSpPr>
          <p:nvPr/>
        </p:nvSpPr>
        <p:spPr>
          <a:xfrm>
            <a:off x="3590925" y="1676400"/>
            <a:ext cx="23145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거리 계산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52F0E6-009B-426F-9766-90100929A4D8}"/>
              </a:ext>
            </a:extLst>
          </p:cNvPr>
          <p:cNvSpPr>
            <a:spLocks noGrp="1"/>
          </p:cNvSpPr>
          <p:nvPr/>
        </p:nvSpPr>
        <p:spPr>
          <a:xfrm>
            <a:off x="3609975" y="2038350"/>
            <a:ext cx="22764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Haversine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직선거리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41604A-4664-434D-9D61-FDF36AE69CD0}"/>
              </a:ext>
            </a:extLst>
          </p:cNvPr>
          <p:cNvSpPr>
            <a:spLocks noGrp="1"/>
          </p:cNvSpPr>
          <p:nvPr/>
        </p:nvSpPr>
        <p:spPr>
          <a:xfrm>
            <a:off x="6038850" y="21621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B4EFCA-A938-4028-95F1-8B554AC21976}"/>
              </a:ext>
            </a:extLst>
          </p:cNvPr>
          <p:cNvSpPr>
            <a:spLocks noGrp="1"/>
          </p:cNvSpPr>
          <p:nvPr/>
        </p:nvSpPr>
        <p:spPr>
          <a:xfrm>
            <a:off x="6172200" y="1466850"/>
            <a:ext cx="2543175" cy="1428750"/>
          </a:xfrm>
          <a:prstGeom prst="rect">
            <a:avLst/>
          </a:prstGeom>
          <a:solidFill>
            <a:srgbClr val="E9F1FA"/>
          </a:solidFill>
          <a:ln w="12383">
            <a:solidFill>
              <a:srgbClr val="38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A1E8608-8D11-48BE-A66A-FDA35CF05AC1}"/>
              </a:ext>
            </a:extLst>
          </p:cNvPr>
          <p:cNvSpPr>
            <a:spLocks noGrp="1"/>
          </p:cNvSpPr>
          <p:nvPr/>
        </p:nvSpPr>
        <p:spPr>
          <a:xfrm>
            <a:off x="6172200" y="1466850"/>
            <a:ext cx="2543175" cy="762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CB3C455-E0D9-48E0-B404-E6F3E89B2BBA}"/>
              </a:ext>
            </a:extLst>
          </p:cNvPr>
          <p:cNvSpPr>
            <a:spLocks noGrp="1"/>
          </p:cNvSpPr>
          <p:nvPr/>
        </p:nvSpPr>
        <p:spPr>
          <a:xfrm>
            <a:off x="6286500" y="1676400"/>
            <a:ext cx="23145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최단거리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146F511-1336-4FDA-9951-86DCC14E5248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22764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Dijkstra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Priority Queue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F61258-129A-41A9-B397-185558B0259C}"/>
              </a:ext>
            </a:extLst>
          </p:cNvPr>
          <p:cNvSpPr>
            <a:spLocks noGrp="1"/>
          </p:cNvSpPr>
          <p:nvPr/>
        </p:nvSpPr>
        <p:spPr>
          <a:xfrm>
            <a:off x="8734425" y="21621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EDD2B17-21F4-4322-AC0A-22818E468DBB}"/>
              </a:ext>
            </a:extLst>
          </p:cNvPr>
          <p:cNvSpPr>
            <a:spLocks noGrp="1"/>
          </p:cNvSpPr>
          <p:nvPr/>
        </p:nvSpPr>
        <p:spPr>
          <a:xfrm>
            <a:off x="8867775" y="1466850"/>
            <a:ext cx="2543175" cy="1428750"/>
          </a:xfrm>
          <a:prstGeom prst="rect">
            <a:avLst/>
          </a:prstGeom>
          <a:solidFill>
            <a:srgbClr val="FBE8E3"/>
          </a:solidFill>
          <a:ln w="12383">
            <a:solidFill>
              <a:srgbClr val="D95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15CD2B2-742E-4654-ABBF-04B498D941D9}"/>
              </a:ext>
            </a:extLst>
          </p:cNvPr>
          <p:cNvSpPr>
            <a:spLocks noGrp="1"/>
          </p:cNvSpPr>
          <p:nvPr/>
        </p:nvSpPr>
        <p:spPr>
          <a:xfrm>
            <a:off x="8867775" y="1466850"/>
            <a:ext cx="2543175" cy="76200"/>
          </a:xfrm>
          <a:prstGeom prst="rect">
            <a:avLst/>
          </a:prstGeom>
          <a:solidFill>
            <a:srgbClr val="D95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9A01202-31B5-4535-9A76-34954B52C458}"/>
              </a:ext>
            </a:extLst>
          </p:cNvPr>
          <p:cNvSpPr>
            <a:spLocks noGrp="1"/>
          </p:cNvSpPr>
          <p:nvPr/>
        </p:nvSpPr>
        <p:spPr>
          <a:xfrm>
            <a:off x="8982075" y="1676400"/>
            <a:ext cx="23145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방문 순서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62702EF-2775-4B76-B65A-E61E1140BCCE}"/>
              </a:ext>
            </a:extLst>
          </p:cNvPr>
          <p:cNvSpPr>
            <a:spLocks noGrp="1"/>
          </p:cNvSpPr>
          <p:nvPr/>
        </p:nvSpPr>
        <p:spPr>
          <a:xfrm>
            <a:off x="9001125" y="2038350"/>
            <a:ext cx="2276475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Greedy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가까운 미방문 선택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FBB9BF-9CA6-4354-A424-D3090B876987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4762500" cy="13144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3F234F7-F914-48C9-8C82-1FF33E0A1582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66675" cy="1314450"/>
          </a:xfrm>
          <a:prstGeom prst="rect">
            <a:avLst/>
          </a:prstGeom>
          <a:solidFill>
            <a:srgbClr val="D95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D7F78BA-956A-482F-B8B9-81533D0A2B3A}"/>
              </a:ext>
            </a:extLst>
          </p:cNvPr>
          <p:cNvSpPr>
            <a:spLocks noGrp="1"/>
          </p:cNvSpPr>
          <p:nvPr/>
        </p:nvSpPr>
        <p:spPr>
          <a:xfrm>
            <a:off x="933450" y="3486150"/>
            <a:ext cx="4419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핵심 아이디어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566A1A9-48FA-4E64-B1AF-F2BB520F2785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419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현재 위치에서 아직 방문하지 않은 추천 장소들까지의 최단거리를 계산하고, 가장 가까운 장소를 다음 방문지로 선택합니다.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E9A28A8-FAEE-479A-BB47-F0ED6D9389BD}"/>
              </a:ext>
            </a:extLst>
          </p:cNvPr>
          <p:cNvSpPr>
            <a:spLocks noGrp="1"/>
          </p:cNvSpPr>
          <p:nvPr/>
        </p:nvSpPr>
        <p:spPr>
          <a:xfrm>
            <a:off x="6076950" y="3333750"/>
            <a:ext cx="4762500" cy="131445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91B728-77D4-42FE-8693-43D0893BAB9C}"/>
              </a:ext>
            </a:extLst>
          </p:cNvPr>
          <p:cNvSpPr>
            <a:spLocks noGrp="1"/>
          </p:cNvSpPr>
          <p:nvPr/>
        </p:nvSpPr>
        <p:spPr>
          <a:xfrm>
            <a:off x="6076950" y="3333750"/>
            <a:ext cx="66675" cy="131445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C80849E-9BF3-43A9-BFA7-B6C613EF9470}"/>
              </a:ext>
            </a:extLst>
          </p:cNvPr>
          <p:cNvSpPr>
            <a:spLocks noGrp="1"/>
          </p:cNvSpPr>
          <p:nvPr/>
        </p:nvSpPr>
        <p:spPr>
          <a:xfrm>
            <a:off x="6267450" y="3486150"/>
            <a:ext cx="4419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한계와 보완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B179D5F-0A72-49B1-B5FE-385A5C7C8C7B}"/>
              </a:ext>
            </a:extLst>
          </p:cNvPr>
          <p:cNvSpPr>
            <a:spLocks noGrp="1"/>
          </p:cNvSpPr>
          <p:nvPr/>
        </p:nvSpPr>
        <p:spPr>
          <a:xfrm>
            <a:off x="6267450" y="3810000"/>
            <a:ext cx="44196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Greedy는 빠르고 설명하기 쉽지만 전체 최적해를 항상 보장하지는 않습니다. 본 프로토타입에서는 시연성과 계산 효율을 우선했습니다.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86FFF35-0527-4082-927F-D9790E8776F7}"/>
              </a:ext>
            </a:extLst>
          </p:cNvPr>
          <p:cNvSpPr>
            <a:spLocks noGrp="1"/>
          </p:cNvSpPr>
          <p:nvPr/>
        </p:nvSpPr>
        <p:spPr>
          <a:xfrm>
            <a:off x="895350" y="5124450"/>
            <a:ext cx="2381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FFA5EF5-39FA-49BA-803D-DF9ADF8FF47D}"/>
              </a:ext>
            </a:extLst>
          </p:cNvPr>
          <p:cNvSpPr>
            <a:spLocks noGrp="1"/>
          </p:cNvSpPr>
          <p:nvPr/>
        </p:nvSpPr>
        <p:spPr>
          <a:xfrm>
            <a:off x="1047750" y="52578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5F6D6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5F6D63"/>
                </a:solidFill>
                <a:latin typeface="Aptos Display"/>
                <a:ea typeface="Aptos Display"/>
                <a:cs typeface="Aptos Display"/>
              </a:rPr>
              <a:t>32.32km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9B3B98F-5FE3-492A-B94C-93E18344BB22}"/>
              </a:ext>
            </a:extLst>
          </p:cNvPr>
          <p:cNvSpPr>
            <a:spLocks noGrp="1"/>
          </p:cNvSpPr>
          <p:nvPr/>
        </p:nvSpPr>
        <p:spPr>
          <a:xfrm>
            <a:off x="1047750" y="5619750"/>
            <a:ext cx="2076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기존 추천 순서 거리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5D0F107-750B-4E71-B420-CD9F67580291}"/>
              </a:ext>
            </a:extLst>
          </p:cNvPr>
          <p:cNvSpPr>
            <a:spLocks noGrp="1"/>
          </p:cNvSpPr>
          <p:nvPr/>
        </p:nvSpPr>
        <p:spPr>
          <a:xfrm>
            <a:off x="3581400" y="5124450"/>
            <a:ext cx="2381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1C1450B-D3E8-41D2-8131-BA31ECE65200}"/>
              </a:ext>
            </a:extLst>
          </p:cNvPr>
          <p:cNvSpPr>
            <a:spLocks noGrp="1"/>
          </p:cNvSpPr>
          <p:nvPr/>
        </p:nvSpPr>
        <p:spPr>
          <a:xfrm>
            <a:off x="3733800" y="52578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64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64A"/>
                </a:solidFill>
                <a:latin typeface="Aptos Display"/>
                <a:ea typeface="Aptos Display"/>
                <a:cs typeface="Aptos Display"/>
              </a:rPr>
              <a:t>14.86km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0A798E1-FD2F-42A2-A7E7-4020FD435FDE}"/>
              </a:ext>
            </a:extLst>
          </p:cNvPr>
          <p:cNvSpPr>
            <a:spLocks noGrp="1"/>
          </p:cNvSpPr>
          <p:nvPr/>
        </p:nvSpPr>
        <p:spPr>
          <a:xfrm>
            <a:off x="3733800" y="5619750"/>
            <a:ext cx="2076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최적화 후 거리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0A70524-C833-4EBC-96D7-D8FFE08C8C25}"/>
              </a:ext>
            </a:extLst>
          </p:cNvPr>
          <p:cNvSpPr>
            <a:spLocks noGrp="1"/>
          </p:cNvSpPr>
          <p:nvPr/>
        </p:nvSpPr>
        <p:spPr>
          <a:xfrm>
            <a:off x="6267450" y="5124450"/>
            <a:ext cx="2381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8F3CF34-AAD4-49DC-89C8-748895C1C295}"/>
              </a:ext>
            </a:extLst>
          </p:cNvPr>
          <p:cNvSpPr>
            <a:spLocks noGrp="1"/>
          </p:cNvSpPr>
          <p:nvPr/>
        </p:nvSpPr>
        <p:spPr>
          <a:xfrm>
            <a:off x="6419850" y="52578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5D4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5D47"/>
                </a:solidFill>
                <a:latin typeface="Aptos Display"/>
                <a:ea typeface="Aptos Display"/>
                <a:cs typeface="Aptos Display"/>
              </a:rPr>
              <a:t>54.02%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3D75C22-F415-46B3-A5AA-7EE07FE25EDD}"/>
              </a:ext>
            </a:extLst>
          </p:cNvPr>
          <p:cNvSpPr>
            <a:spLocks noGrp="1"/>
          </p:cNvSpPr>
          <p:nvPr/>
        </p:nvSpPr>
        <p:spPr>
          <a:xfrm>
            <a:off x="6419850" y="5619750"/>
            <a:ext cx="2076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개선율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1B3C204-25C1-4AE2-9F53-A7F50FAB71B3}"/>
              </a:ext>
            </a:extLst>
          </p:cNvPr>
          <p:cNvSpPr>
            <a:spLocks noGrp="1"/>
          </p:cNvSpPr>
          <p:nvPr/>
        </p:nvSpPr>
        <p:spPr>
          <a:xfrm>
            <a:off x="8953500" y="5124450"/>
            <a:ext cx="23812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39055C7-D96C-43DC-AF40-99AC4EEE287D}"/>
              </a:ext>
            </a:extLst>
          </p:cNvPr>
          <p:cNvSpPr>
            <a:spLocks noGrp="1"/>
          </p:cNvSpPr>
          <p:nvPr/>
        </p:nvSpPr>
        <p:spPr>
          <a:xfrm>
            <a:off x="9105900" y="5257800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86FA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86FA4"/>
                </a:solidFill>
                <a:latin typeface="Aptos Display"/>
                <a:ea typeface="Aptos Display"/>
                <a:cs typeface="Aptos Display"/>
              </a:rPr>
              <a:t>place_id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6B05AAE-BEE5-4883-8891-BD07D81682B4}"/>
              </a:ext>
            </a:extLst>
          </p:cNvPr>
          <p:cNvSpPr>
            <a:spLocks noGrp="1"/>
          </p:cNvSpPr>
          <p:nvPr/>
        </p:nvSpPr>
        <p:spPr>
          <a:xfrm>
            <a:off x="9105900" y="5619750"/>
            <a:ext cx="2076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추천 모듈과 연결 키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F6A4FB9-F889-4E35-A307-5038169AB12E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Sample route: 황리단길 → 첨성대 → 경주월드 → 보문호 → 불국사 → 석굴암</a:t>
            </a:r>
          </a:p>
        </p:txBody>
      </p:sp>
    </p:spTree>
    <p:extLst>
      <p:ext uri="{BB962C8B-B14F-4D97-AF65-F5344CB8AC3E}">
        <p14:creationId xmlns:p14="http://schemas.microsoft.com/office/powerpoint/2010/main" val="1773840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직사각형 81">
            <a:extLst>
              <a:ext uri="{FF2B5EF4-FFF2-40B4-BE49-F238E27FC236}">
                <a16:creationId xmlns:a16="http://schemas.microsoft.com/office/drawing/2014/main" id="{91D48FE9-90AF-4A2A-889E-48150CA113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E5A3F38-58CB-4E23-A112-AA4E076D8F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C5C8F4-2D2B-4F12-94F1-5D8F4E060A3F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D659A9-801F-402E-AC80-2DC5053F8A92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모듈은 place_id와 score를 기준으로 이어집니다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538D46-EEC1-488F-AC8D-C9883271097B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4B95BF-5035-41F2-B988-3F8555FA75C3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BDDC2B-0112-4325-A1CF-5FB103CCC1B2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⑥ 구현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01122D-D1BD-4825-ACEE-FB91DE82E8F1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BE4929-B2CE-4F8A-846B-AD54561E2F84}"/>
              </a:ext>
            </a:extLst>
          </p:cNvPr>
          <p:cNvSpPr>
            <a:spLocks noGrp="1"/>
          </p:cNvSpPr>
          <p:nvPr/>
        </p:nvSpPr>
        <p:spPr>
          <a:xfrm>
            <a:off x="590550" y="1466850"/>
            <a:ext cx="2080260" cy="1428750"/>
          </a:xfrm>
          <a:prstGeom prst="rect">
            <a:avLst/>
          </a:prstGeom>
          <a:solidFill>
            <a:srgbClr val="EAF2E5"/>
          </a:solidFill>
          <a:ln w="12383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77C69A-FE1E-48A3-BE39-AC000715DA68}"/>
              </a:ext>
            </a:extLst>
          </p:cNvPr>
          <p:cNvSpPr>
            <a:spLocks noGrp="1"/>
          </p:cNvSpPr>
          <p:nvPr/>
        </p:nvSpPr>
        <p:spPr>
          <a:xfrm>
            <a:off x="590550" y="1466850"/>
            <a:ext cx="208026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2E35EA-F391-48F5-836E-01C7233EE507}"/>
              </a:ext>
            </a:extLst>
          </p:cNvPr>
          <p:cNvSpPr>
            <a:spLocks noGrp="1"/>
          </p:cNvSpPr>
          <p:nvPr/>
        </p:nvSpPr>
        <p:spPr>
          <a:xfrm>
            <a:off x="704850" y="1676400"/>
            <a:ext cx="185166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사용자 입력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5914A3-E1C4-448B-B2D9-B9944EA8DE71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181356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user_id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관심 키워드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4B7D5F-FAD0-4348-A10C-6C17AA39FCBB}"/>
              </a:ext>
            </a:extLst>
          </p:cNvPr>
          <p:cNvSpPr>
            <a:spLocks noGrp="1"/>
          </p:cNvSpPr>
          <p:nvPr/>
        </p:nvSpPr>
        <p:spPr>
          <a:xfrm>
            <a:off x="2689860" y="21621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D7EFC4-9DEC-4A94-A3E7-7514D63596AB}"/>
              </a:ext>
            </a:extLst>
          </p:cNvPr>
          <p:cNvSpPr>
            <a:spLocks noGrp="1"/>
          </p:cNvSpPr>
          <p:nvPr/>
        </p:nvSpPr>
        <p:spPr>
          <a:xfrm>
            <a:off x="2823210" y="1466850"/>
            <a:ext cx="2080260" cy="1428750"/>
          </a:xfrm>
          <a:prstGeom prst="rect">
            <a:avLst/>
          </a:prstGeom>
          <a:solidFill>
            <a:srgbClr val="EAF2E5"/>
          </a:solidFill>
          <a:ln w="12383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948E64-FC25-412F-A26C-9B77B6B2ADB6}"/>
              </a:ext>
            </a:extLst>
          </p:cNvPr>
          <p:cNvSpPr>
            <a:spLocks noGrp="1"/>
          </p:cNvSpPr>
          <p:nvPr/>
        </p:nvSpPr>
        <p:spPr>
          <a:xfrm>
            <a:off x="2823210" y="1466850"/>
            <a:ext cx="208026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3FC67D-263A-462C-ADAB-A67AA5699BE8}"/>
              </a:ext>
            </a:extLst>
          </p:cNvPr>
          <p:cNvSpPr>
            <a:spLocks noGrp="1"/>
          </p:cNvSpPr>
          <p:nvPr/>
        </p:nvSpPr>
        <p:spPr>
          <a:xfrm>
            <a:off x="2937510" y="1676400"/>
            <a:ext cx="185166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CF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1A0CFE4-8265-41FC-A6EA-A4488B3E8E26}"/>
              </a:ext>
            </a:extLst>
          </p:cNvPr>
          <p:cNvSpPr>
            <a:spLocks noGrp="1"/>
          </p:cNvSpPr>
          <p:nvPr/>
        </p:nvSpPr>
        <p:spPr>
          <a:xfrm>
            <a:off x="2956560" y="2038350"/>
            <a:ext cx="181356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유사 사용자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후보 점수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632DBD9-C525-4F59-979D-4E4C91E864C2}"/>
              </a:ext>
            </a:extLst>
          </p:cNvPr>
          <p:cNvSpPr>
            <a:spLocks noGrp="1"/>
          </p:cNvSpPr>
          <p:nvPr/>
        </p:nvSpPr>
        <p:spPr>
          <a:xfrm>
            <a:off x="4922520" y="21621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872E0D-6FAA-45DF-B893-8CA69358CE44}"/>
              </a:ext>
            </a:extLst>
          </p:cNvPr>
          <p:cNvSpPr>
            <a:spLocks noGrp="1"/>
          </p:cNvSpPr>
          <p:nvPr/>
        </p:nvSpPr>
        <p:spPr>
          <a:xfrm>
            <a:off x="5055870" y="1466850"/>
            <a:ext cx="2080260" cy="1428750"/>
          </a:xfrm>
          <a:prstGeom prst="rect">
            <a:avLst/>
          </a:prstGeom>
          <a:solidFill>
            <a:srgbClr val="FBF1DA"/>
          </a:solidFill>
          <a:ln w="12383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E8AFD1E-BD23-49DA-98E3-9142BCE6738F}"/>
              </a:ext>
            </a:extLst>
          </p:cNvPr>
          <p:cNvSpPr>
            <a:spLocks noGrp="1"/>
          </p:cNvSpPr>
          <p:nvPr/>
        </p:nvSpPr>
        <p:spPr>
          <a:xfrm>
            <a:off x="5055870" y="1466850"/>
            <a:ext cx="2080260" cy="7620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EC2E80E-90AE-4728-B22C-FB42310A049E}"/>
              </a:ext>
            </a:extLst>
          </p:cNvPr>
          <p:cNvSpPr>
            <a:spLocks noGrp="1"/>
          </p:cNvSpPr>
          <p:nvPr/>
        </p:nvSpPr>
        <p:spPr>
          <a:xfrm>
            <a:off x="5170170" y="1676400"/>
            <a:ext cx="185166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Keyword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A74841-FB42-4083-9040-39871A3A96F9}"/>
              </a:ext>
            </a:extLst>
          </p:cNvPr>
          <p:cNvSpPr>
            <a:spLocks noGrp="1"/>
          </p:cNvSpPr>
          <p:nvPr/>
        </p:nvSpPr>
        <p:spPr>
          <a:xfrm>
            <a:off x="5189220" y="2038350"/>
            <a:ext cx="181356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TF-IDF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K-Means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가중치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0E31B9-EB82-4611-92A0-F22ED6165E19}"/>
              </a:ext>
            </a:extLst>
          </p:cNvPr>
          <p:cNvSpPr>
            <a:spLocks noGrp="1"/>
          </p:cNvSpPr>
          <p:nvPr/>
        </p:nvSpPr>
        <p:spPr>
          <a:xfrm>
            <a:off x="7155180" y="21621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C6AF6F4-6B99-49DD-BF12-37EC871D6019}"/>
              </a:ext>
            </a:extLst>
          </p:cNvPr>
          <p:cNvSpPr>
            <a:spLocks noGrp="1"/>
          </p:cNvSpPr>
          <p:nvPr/>
        </p:nvSpPr>
        <p:spPr>
          <a:xfrm>
            <a:off x="7288530" y="1466850"/>
            <a:ext cx="2080260" cy="1428750"/>
          </a:xfrm>
          <a:prstGeom prst="rect">
            <a:avLst/>
          </a:prstGeom>
          <a:solidFill>
            <a:srgbClr val="E9F1FA"/>
          </a:solidFill>
          <a:ln w="12383">
            <a:solidFill>
              <a:srgbClr val="38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E8CFFF-DF36-41DA-853F-0AC4C8F74E1D}"/>
              </a:ext>
            </a:extLst>
          </p:cNvPr>
          <p:cNvSpPr>
            <a:spLocks noGrp="1"/>
          </p:cNvSpPr>
          <p:nvPr/>
        </p:nvSpPr>
        <p:spPr>
          <a:xfrm>
            <a:off x="7288530" y="1466850"/>
            <a:ext cx="2080260" cy="762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87147B-41F3-443E-9772-6F3FDEC1DDA9}"/>
              </a:ext>
            </a:extLst>
          </p:cNvPr>
          <p:cNvSpPr>
            <a:spLocks noGrp="1"/>
          </p:cNvSpPr>
          <p:nvPr/>
        </p:nvSpPr>
        <p:spPr>
          <a:xfrm>
            <a:off x="7402830" y="1676400"/>
            <a:ext cx="185166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PPR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AFDE387-6489-44E1-A77A-B665549F7A1F}"/>
              </a:ext>
            </a:extLst>
          </p:cNvPr>
          <p:cNvSpPr>
            <a:spLocks noGrp="1"/>
          </p:cNvSpPr>
          <p:nvPr/>
        </p:nvSpPr>
        <p:spPr>
          <a:xfrm>
            <a:off x="7421880" y="2038350"/>
            <a:ext cx="181356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RWR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개인화 점수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7CF0517-C108-4E7D-B54E-1C675D9F63F3}"/>
              </a:ext>
            </a:extLst>
          </p:cNvPr>
          <p:cNvSpPr>
            <a:spLocks noGrp="1"/>
          </p:cNvSpPr>
          <p:nvPr/>
        </p:nvSpPr>
        <p:spPr>
          <a:xfrm>
            <a:off x="9387840" y="2162175"/>
            <a:ext cx="114300" cy="38100"/>
          </a:xfrm>
          <a:prstGeom prst="rect">
            <a:avLst/>
          </a:prstGeom>
          <a:solidFill>
            <a:srgbClr val="A9B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AEC2CF-E734-4D09-987F-3E303CDD0887}"/>
              </a:ext>
            </a:extLst>
          </p:cNvPr>
          <p:cNvSpPr>
            <a:spLocks noGrp="1"/>
          </p:cNvSpPr>
          <p:nvPr/>
        </p:nvSpPr>
        <p:spPr>
          <a:xfrm>
            <a:off x="9521190" y="1466850"/>
            <a:ext cx="2080260" cy="1428750"/>
          </a:xfrm>
          <a:prstGeom prst="rect">
            <a:avLst/>
          </a:prstGeom>
          <a:solidFill>
            <a:srgbClr val="FBE8E3"/>
          </a:solidFill>
          <a:ln w="12383">
            <a:solidFill>
              <a:srgbClr val="D95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CAC3A41-C34E-4350-9B54-513F691414FE}"/>
              </a:ext>
            </a:extLst>
          </p:cNvPr>
          <p:cNvSpPr>
            <a:spLocks noGrp="1"/>
          </p:cNvSpPr>
          <p:nvPr/>
        </p:nvSpPr>
        <p:spPr>
          <a:xfrm>
            <a:off x="9521190" y="1466850"/>
            <a:ext cx="2080260" cy="76200"/>
          </a:xfrm>
          <a:prstGeom prst="rect">
            <a:avLst/>
          </a:prstGeom>
          <a:solidFill>
            <a:srgbClr val="D95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A0852F9-1954-4FA1-B5E6-B42F721997D2}"/>
              </a:ext>
            </a:extLst>
          </p:cNvPr>
          <p:cNvSpPr>
            <a:spLocks noGrp="1"/>
          </p:cNvSpPr>
          <p:nvPr/>
        </p:nvSpPr>
        <p:spPr>
          <a:xfrm>
            <a:off x="9635490" y="1676400"/>
            <a:ext cx="185166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Route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B0179D4-FE69-4112-BAAE-B0CCF45F33FB}"/>
              </a:ext>
            </a:extLst>
          </p:cNvPr>
          <p:cNvSpPr>
            <a:spLocks noGrp="1"/>
          </p:cNvSpPr>
          <p:nvPr/>
        </p:nvSpPr>
        <p:spPr>
          <a:xfrm>
            <a:off x="9654540" y="2038350"/>
            <a:ext cx="181356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Dijkstra</a:t>
            </a:r>
          </a:p>
          <a:p>
            <a:pPr algn="ctr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Greedy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2EB4717-F968-4AD0-998B-DAED02E3351E}"/>
              </a:ext>
            </a:extLst>
          </p:cNvPr>
          <p:cNvSpPr>
            <a:spLocks noGrp="1"/>
          </p:cNvSpPr>
          <p:nvPr/>
        </p:nvSpPr>
        <p:spPr>
          <a:xfrm>
            <a:off x="781050" y="3162300"/>
            <a:ext cx="160020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76E88A7-8BB5-4ED7-BCAA-2961A78CB266}"/>
              </a:ext>
            </a:extLst>
          </p:cNvPr>
          <p:cNvSpPr>
            <a:spLocks noGrp="1"/>
          </p:cNvSpPr>
          <p:nvPr/>
        </p:nvSpPr>
        <p:spPr>
          <a:xfrm>
            <a:off x="857250" y="3257550"/>
            <a:ext cx="1447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단계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F2C6AF7-ACD0-40C8-9F63-317A49A28C01}"/>
              </a:ext>
            </a:extLst>
          </p:cNvPr>
          <p:cNvSpPr>
            <a:spLocks noGrp="1"/>
          </p:cNvSpPr>
          <p:nvPr/>
        </p:nvSpPr>
        <p:spPr>
          <a:xfrm>
            <a:off x="2381250" y="3162300"/>
            <a:ext cx="285750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741BBC1-3FD6-4F1A-B52A-41010E698B42}"/>
              </a:ext>
            </a:extLst>
          </p:cNvPr>
          <p:cNvSpPr>
            <a:spLocks noGrp="1"/>
          </p:cNvSpPr>
          <p:nvPr/>
        </p:nvSpPr>
        <p:spPr>
          <a:xfrm>
            <a:off x="2457450" y="3257550"/>
            <a:ext cx="2705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입력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93927FD-B8FB-4A1E-91FE-EA9EB8410FF4}"/>
              </a:ext>
            </a:extLst>
          </p:cNvPr>
          <p:cNvSpPr>
            <a:spLocks noGrp="1"/>
          </p:cNvSpPr>
          <p:nvPr/>
        </p:nvSpPr>
        <p:spPr>
          <a:xfrm>
            <a:off x="5238750" y="3162300"/>
            <a:ext cx="314325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F5886E5-33E7-4378-A249-CB015FED6FBB}"/>
              </a:ext>
            </a:extLst>
          </p:cNvPr>
          <p:cNvSpPr>
            <a:spLocks noGrp="1"/>
          </p:cNvSpPr>
          <p:nvPr/>
        </p:nvSpPr>
        <p:spPr>
          <a:xfrm>
            <a:off x="5314950" y="3257550"/>
            <a:ext cx="2990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처리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27E1EA2-77A7-4CAD-801C-448E7E5A3022}"/>
              </a:ext>
            </a:extLst>
          </p:cNvPr>
          <p:cNvSpPr>
            <a:spLocks noGrp="1"/>
          </p:cNvSpPr>
          <p:nvPr/>
        </p:nvSpPr>
        <p:spPr>
          <a:xfrm>
            <a:off x="8382000" y="3162300"/>
            <a:ext cx="2647950" cy="323850"/>
          </a:xfrm>
          <a:prstGeom prst="rect">
            <a:avLst/>
          </a:prstGeom>
          <a:solidFill>
            <a:srgbClr val="25664A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71B7284-C7A0-49B1-981B-1979498F65B2}"/>
              </a:ext>
            </a:extLst>
          </p:cNvPr>
          <p:cNvSpPr>
            <a:spLocks noGrp="1"/>
          </p:cNvSpPr>
          <p:nvPr/>
        </p:nvSpPr>
        <p:spPr>
          <a:xfrm>
            <a:off x="8458200" y="3257550"/>
            <a:ext cx="2495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출력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33F85D1-2B18-476D-8473-1F7B0F149348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1600200" cy="4381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AD4A234-C3A2-45A6-9FAE-6E8A4B925642}"/>
              </a:ext>
            </a:extLst>
          </p:cNvPr>
          <p:cNvSpPr>
            <a:spLocks noGrp="1"/>
          </p:cNvSpPr>
          <p:nvPr/>
        </p:nvSpPr>
        <p:spPr>
          <a:xfrm>
            <a:off x="857250" y="356235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7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행동 추천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8F171D3-5E4F-40E2-9117-3D4B9A84ED2E}"/>
              </a:ext>
            </a:extLst>
          </p:cNvPr>
          <p:cNvSpPr>
            <a:spLocks noGrp="1"/>
          </p:cNvSpPr>
          <p:nvPr/>
        </p:nvSpPr>
        <p:spPr>
          <a:xfrm>
            <a:off x="2381250" y="3486150"/>
            <a:ext cx="2857500" cy="4381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2BD9836-76C2-4755-9CDF-A3B7B7D00AD6}"/>
              </a:ext>
            </a:extLst>
          </p:cNvPr>
          <p:cNvSpPr>
            <a:spLocks noGrp="1"/>
          </p:cNvSpPr>
          <p:nvPr/>
        </p:nvSpPr>
        <p:spPr>
          <a:xfrm>
            <a:off x="2457450" y="3562350"/>
            <a:ext cx="2705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user_likes.csv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80FB37A-81F3-4DBF-9C0E-451951896A62}"/>
              </a:ext>
            </a:extLst>
          </p:cNvPr>
          <p:cNvSpPr>
            <a:spLocks noGrp="1"/>
          </p:cNvSpPr>
          <p:nvPr/>
        </p:nvSpPr>
        <p:spPr>
          <a:xfrm>
            <a:off x="5238750" y="3486150"/>
            <a:ext cx="3143250" cy="4381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868A96A-3C44-4CAC-86D8-3A33DF857B26}"/>
              </a:ext>
            </a:extLst>
          </p:cNvPr>
          <p:cNvSpPr>
            <a:spLocks noGrp="1"/>
          </p:cNvSpPr>
          <p:nvPr/>
        </p:nvSpPr>
        <p:spPr>
          <a:xfrm>
            <a:off x="5314950" y="356235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Jaccard + CF 점수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680EF6A-ED72-4FD4-A113-2512FABD25D8}"/>
              </a:ext>
            </a:extLst>
          </p:cNvPr>
          <p:cNvSpPr>
            <a:spLocks noGrp="1"/>
          </p:cNvSpPr>
          <p:nvPr/>
        </p:nvSpPr>
        <p:spPr>
          <a:xfrm>
            <a:off x="8382000" y="3486150"/>
            <a:ext cx="2647950" cy="4381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30359D7-3C26-49C5-880F-311142ACA376}"/>
              </a:ext>
            </a:extLst>
          </p:cNvPr>
          <p:cNvSpPr>
            <a:spLocks noGrp="1"/>
          </p:cNvSpPr>
          <p:nvPr/>
        </p:nvSpPr>
        <p:spPr>
          <a:xfrm>
            <a:off x="8458200" y="3562350"/>
            <a:ext cx="2495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CF 후보 place_id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AF28037-E263-46B4-B688-638C7A70517B}"/>
              </a:ext>
            </a:extLst>
          </p:cNvPr>
          <p:cNvSpPr>
            <a:spLocks noGrp="1"/>
          </p:cNvSpPr>
          <p:nvPr/>
        </p:nvSpPr>
        <p:spPr>
          <a:xfrm>
            <a:off x="781050" y="3924300"/>
            <a:ext cx="1600200" cy="43815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591E3F8-C773-4ABE-8C7E-507A4A8E4429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7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키워드 분석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F978231-6F8E-4122-99DB-AB47209A65DE}"/>
              </a:ext>
            </a:extLst>
          </p:cNvPr>
          <p:cNvSpPr>
            <a:spLocks noGrp="1"/>
          </p:cNvSpPr>
          <p:nvPr/>
        </p:nvSpPr>
        <p:spPr>
          <a:xfrm>
            <a:off x="2381250" y="3924300"/>
            <a:ext cx="2857500" cy="43815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4EEEFE2-2238-4A47-8498-9DA5F822EE5F}"/>
              </a:ext>
            </a:extLst>
          </p:cNvPr>
          <p:cNvSpPr>
            <a:spLocks noGrp="1"/>
          </p:cNvSpPr>
          <p:nvPr/>
        </p:nvSpPr>
        <p:spPr>
          <a:xfrm>
            <a:off x="2457450" y="4000500"/>
            <a:ext cx="2705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places.json keywords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2B76745-8B84-40CE-9C42-CA6FD8BDD4B5}"/>
              </a:ext>
            </a:extLst>
          </p:cNvPr>
          <p:cNvSpPr>
            <a:spLocks noGrp="1"/>
          </p:cNvSpPr>
          <p:nvPr/>
        </p:nvSpPr>
        <p:spPr>
          <a:xfrm>
            <a:off x="5238750" y="3924300"/>
            <a:ext cx="3143250" cy="43815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721787D-2740-4814-811E-1A3897CB9ED7}"/>
              </a:ext>
            </a:extLst>
          </p:cNvPr>
          <p:cNvSpPr>
            <a:spLocks noGrp="1"/>
          </p:cNvSpPr>
          <p:nvPr/>
        </p:nvSpPr>
        <p:spPr>
          <a:xfrm>
            <a:off x="5314950" y="40005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TF-IDF + K-Means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6B40931-4A00-4EA9-947C-63E9A7056B1F}"/>
              </a:ext>
            </a:extLst>
          </p:cNvPr>
          <p:cNvSpPr>
            <a:spLocks noGrp="1"/>
          </p:cNvSpPr>
          <p:nvPr/>
        </p:nvSpPr>
        <p:spPr>
          <a:xfrm>
            <a:off x="8382000" y="3924300"/>
            <a:ext cx="2647950" cy="43815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AA3DC31-90C4-4F40-BFE6-1EAEE9F2D801}"/>
              </a:ext>
            </a:extLst>
          </p:cNvPr>
          <p:cNvSpPr>
            <a:spLocks noGrp="1"/>
          </p:cNvSpPr>
          <p:nvPr/>
        </p:nvSpPr>
        <p:spPr>
          <a:xfrm>
            <a:off x="8458200" y="4000500"/>
            <a:ext cx="2495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키워드 가중치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41A59A7-CB05-41A3-AF3E-252536378B75}"/>
              </a:ext>
            </a:extLst>
          </p:cNvPr>
          <p:cNvSpPr>
            <a:spLocks noGrp="1"/>
          </p:cNvSpPr>
          <p:nvPr/>
        </p:nvSpPr>
        <p:spPr>
          <a:xfrm>
            <a:off x="781050" y="4362450"/>
            <a:ext cx="1600200" cy="4381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CA70C78-FE9C-48FF-8DA1-1BD549936E74}"/>
              </a:ext>
            </a:extLst>
          </p:cNvPr>
          <p:cNvSpPr>
            <a:spLocks noGrp="1"/>
          </p:cNvSpPr>
          <p:nvPr/>
        </p:nvSpPr>
        <p:spPr>
          <a:xfrm>
            <a:off x="857250" y="443865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7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개인화 추천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4F351CD-F8FF-46D1-B972-B4F4E906DF49}"/>
              </a:ext>
            </a:extLst>
          </p:cNvPr>
          <p:cNvSpPr>
            <a:spLocks noGrp="1"/>
          </p:cNvSpPr>
          <p:nvPr/>
        </p:nvSpPr>
        <p:spPr>
          <a:xfrm>
            <a:off x="2381250" y="4362450"/>
            <a:ext cx="2857500" cy="4381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BACD9E5-392B-4EA1-B4E3-A89B9289EB5C}"/>
              </a:ext>
            </a:extLst>
          </p:cNvPr>
          <p:cNvSpPr>
            <a:spLocks noGrp="1"/>
          </p:cNvSpPr>
          <p:nvPr/>
        </p:nvSpPr>
        <p:spPr>
          <a:xfrm>
            <a:off x="2457450" y="4438650"/>
            <a:ext cx="2705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키워드 씨드 + CF 후보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BF415C2-59D3-4BA4-8A3A-C5FE41255BFD}"/>
              </a:ext>
            </a:extLst>
          </p:cNvPr>
          <p:cNvSpPr>
            <a:spLocks noGrp="1"/>
          </p:cNvSpPr>
          <p:nvPr/>
        </p:nvSpPr>
        <p:spPr>
          <a:xfrm>
            <a:off x="5238750" y="4362450"/>
            <a:ext cx="3143250" cy="4381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4BE2A8E-8FFC-46AC-9284-7280A8738946}"/>
              </a:ext>
            </a:extLst>
          </p:cNvPr>
          <p:cNvSpPr>
            <a:spLocks noGrp="1"/>
          </p:cNvSpPr>
          <p:nvPr/>
        </p:nvSpPr>
        <p:spPr>
          <a:xfrm>
            <a:off x="5314950" y="443865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RWR + PPR 정규화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DD051B8-E937-4184-B16F-02D8F98AAF0E}"/>
              </a:ext>
            </a:extLst>
          </p:cNvPr>
          <p:cNvSpPr>
            <a:spLocks noGrp="1"/>
          </p:cNvSpPr>
          <p:nvPr/>
        </p:nvSpPr>
        <p:spPr>
          <a:xfrm>
            <a:off x="8382000" y="4362450"/>
            <a:ext cx="2647950" cy="438150"/>
          </a:xfrm>
          <a:prstGeom prst="rect">
            <a:avLst/>
          </a:prstGeom>
          <a:solidFill>
            <a:srgbClr val="FFFFFF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8BC4DFF-FE3F-4770-B38B-6DB65CD8D8E2}"/>
              </a:ext>
            </a:extLst>
          </p:cNvPr>
          <p:cNvSpPr>
            <a:spLocks noGrp="1"/>
          </p:cNvSpPr>
          <p:nvPr/>
        </p:nvSpPr>
        <p:spPr>
          <a:xfrm>
            <a:off x="8458200" y="4438650"/>
            <a:ext cx="2495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추천 장소 + score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6C3FFCF-21F4-477B-8097-6AA74A70E577}"/>
              </a:ext>
            </a:extLst>
          </p:cNvPr>
          <p:cNvSpPr>
            <a:spLocks noGrp="1"/>
          </p:cNvSpPr>
          <p:nvPr/>
        </p:nvSpPr>
        <p:spPr>
          <a:xfrm>
            <a:off x="781050" y="4800600"/>
            <a:ext cx="1600200" cy="43815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170C158-7E6A-4CE9-9574-E7A99223F25F}"/>
              </a:ext>
            </a:extLst>
          </p:cNvPr>
          <p:cNvSpPr>
            <a:spLocks noGrp="1"/>
          </p:cNvSpPr>
          <p:nvPr/>
        </p:nvSpPr>
        <p:spPr>
          <a:xfrm>
            <a:off x="857250" y="4876800"/>
            <a:ext cx="144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70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경로 최적화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355DCB9-02BA-4943-A176-2D8A2202E762}"/>
              </a:ext>
            </a:extLst>
          </p:cNvPr>
          <p:cNvSpPr>
            <a:spLocks noGrp="1"/>
          </p:cNvSpPr>
          <p:nvPr/>
        </p:nvSpPr>
        <p:spPr>
          <a:xfrm>
            <a:off x="2381250" y="4800600"/>
            <a:ext cx="2857500" cy="43815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2901A00-CBB7-420A-87E7-AA939A15D1D1}"/>
              </a:ext>
            </a:extLst>
          </p:cNvPr>
          <p:cNvSpPr>
            <a:spLocks noGrp="1"/>
          </p:cNvSpPr>
          <p:nvPr/>
        </p:nvSpPr>
        <p:spPr>
          <a:xfrm>
            <a:off x="2457450" y="4876800"/>
            <a:ext cx="2705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추천 place_id + 출발지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E653B3E-2B2C-4E4E-9E58-3D25B42F3ABE}"/>
              </a:ext>
            </a:extLst>
          </p:cNvPr>
          <p:cNvSpPr>
            <a:spLocks noGrp="1"/>
          </p:cNvSpPr>
          <p:nvPr/>
        </p:nvSpPr>
        <p:spPr>
          <a:xfrm>
            <a:off x="5238750" y="4800600"/>
            <a:ext cx="3143250" cy="43815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79521BC-84DB-4546-A2EE-03FA8C38084B}"/>
              </a:ext>
            </a:extLst>
          </p:cNvPr>
          <p:cNvSpPr>
            <a:spLocks noGrp="1"/>
          </p:cNvSpPr>
          <p:nvPr/>
        </p:nvSpPr>
        <p:spPr>
          <a:xfrm>
            <a:off x="5314950" y="4876800"/>
            <a:ext cx="2990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Dijkstra + Greedy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EB0B37B-F25D-4D64-8FC7-B59BF9943F95}"/>
              </a:ext>
            </a:extLst>
          </p:cNvPr>
          <p:cNvSpPr>
            <a:spLocks noGrp="1"/>
          </p:cNvSpPr>
          <p:nvPr/>
        </p:nvSpPr>
        <p:spPr>
          <a:xfrm>
            <a:off x="8382000" y="4800600"/>
            <a:ext cx="2647950" cy="438150"/>
          </a:xfrm>
          <a:prstGeom prst="rect">
            <a:avLst/>
          </a:prstGeom>
          <a:solidFill>
            <a:srgbClr val="FAFCF7"/>
          </a:solidFill>
          <a:ln w="7620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9B73B4B-867E-46FE-AB84-DAC41BF7BA15}"/>
              </a:ext>
            </a:extLst>
          </p:cNvPr>
          <p:cNvSpPr>
            <a:spLocks noGrp="1"/>
          </p:cNvSpPr>
          <p:nvPr/>
        </p:nvSpPr>
        <p:spPr>
          <a:xfrm>
            <a:off x="8458200" y="4876800"/>
            <a:ext cx="2495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최종 여행 코스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747D440-527D-412D-9B81-B3E14058EF38}"/>
              </a:ext>
            </a:extLst>
          </p:cNvPr>
          <p:cNvSpPr>
            <a:spLocks noGrp="1"/>
          </p:cNvSpPr>
          <p:nvPr/>
        </p:nvSpPr>
        <p:spPr>
          <a:xfrm>
            <a:off x="1143000" y="5657850"/>
            <a:ext cx="4762500" cy="7239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B26787B-7776-4B05-BF29-023F317850A9}"/>
              </a:ext>
            </a:extLst>
          </p:cNvPr>
          <p:cNvSpPr>
            <a:spLocks noGrp="1"/>
          </p:cNvSpPr>
          <p:nvPr/>
        </p:nvSpPr>
        <p:spPr>
          <a:xfrm>
            <a:off x="1143000" y="5657850"/>
            <a:ext cx="66675" cy="7239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1AECE2F-A138-4C57-80DE-7F6BFBF74B9D}"/>
              </a:ext>
            </a:extLst>
          </p:cNvPr>
          <p:cNvSpPr>
            <a:spLocks noGrp="1"/>
          </p:cNvSpPr>
          <p:nvPr/>
        </p:nvSpPr>
        <p:spPr>
          <a:xfrm>
            <a:off x="1333500" y="5810250"/>
            <a:ext cx="4419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점수 결합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F80D323-A282-47C3-B901-BB1F4A3F8312}"/>
              </a:ext>
            </a:extLst>
          </p:cNvPr>
          <p:cNvSpPr>
            <a:spLocks noGrp="1"/>
          </p:cNvSpPr>
          <p:nvPr/>
        </p:nvSpPr>
        <p:spPr>
          <a:xfrm>
            <a:off x="1333500" y="6134100"/>
            <a:ext cx="4419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RWR/PPR 점수 0.6과 CF 점수 0.4를 합산해 최종 추천 순위를 정합니다.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E5E8ED2-D8CF-4E07-962D-99B3A8ABE3A9}"/>
              </a:ext>
            </a:extLst>
          </p:cNvPr>
          <p:cNvSpPr>
            <a:spLocks noGrp="1"/>
          </p:cNvSpPr>
          <p:nvPr/>
        </p:nvSpPr>
        <p:spPr>
          <a:xfrm>
            <a:off x="6343650" y="5657850"/>
            <a:ext cx="4762500" cy="7239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293AF63-F8AA-4CFD-9F23-2256DDBEA6DD}"/>
              </a:ext>
            </a:extLst>
          </p:cNvPr>
          <p:cNvSpPr>
            <a:spLocks noGrp="1"/>
          </p:cNvSpPr>
          <p:nvPr/>
        </p:nvSpPr>
        <p:spPr>
          <a:xfrm>
            <a:off x="6343650" y="5657850"/>
            <a:ext cx="66675" cy="7239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38EE65C-5F31-4FF3-BEC9-0236004BB96E}"/>
              </a:ext>
            </a:extLst>
          </p:cNvPr>
          <p:cNvSpPr>
            <a:spLocks noGrp="1"/>
          </p:cNvSpPr>
          <p:nvPr/>
        </p:nvSpPr>
        <p:spPr>
          <a:xfrm>
            <a:off x="6534150" y="5810250"/>
            <a:ext cx="4419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연동 기준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B319537-6A94-4475-ABD9-956171E62CBA}"/>
              </a:ext>
            </a:extLst>
          </p:cNvPr>
          <p:cNvSpPr>
            <a:spLocks noGrp="1"/>
          </p:cNvSpPr>
          <p:nvPr/>
        </p:nvSpPr>
        <p:spPr>
          <a:xfrm>
            <a:off x="6534150" y="6134100"/>
            <a:ext cx="4419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세부 알고리즘은 달라도 공통 key인 place_id를 통해 결과를 전달합니다.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D877055-942C-4284-8B29-4B14E39F3CF7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최종 app.py 통합 흐름 요약</a:t>
            </a:r>
          </a:p>
        </p:txBody>
      </p:sp>
    </p:spTree>
    <p:extLst>
      <p:ext uri="{BB962C8B-B14F-4D97-AF65-F5344CB8AC3E}">
        <p14:creationId xmlns:p14="http://schemas.microsoft.com/office/powerpoint/2010/main" val="797512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68A84C52-F1DD-4ADE-AC81-A8834AB15F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F60889-94C8-48B3-87E3-E28985D9FD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F41786-406A-4523-AA18-E088402446CC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FINAL RESULT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D7FEA0-F0FC-4A5B-8BC5-758C36DF5982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추천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장소는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최종적으로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거리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기준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여행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코스로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출력</a:t>
            </a:r>
            <a:r>
              <a:rPr lang="ko-KR" altLang="en-US"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됩니다</a:t>
            </a:r>
            <a:endParaRPr sz="2475" b="1" dirty="0">
              <a:solidFill>
                <a:srgbClr val="18251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ED315A1-F9D6-4629-976E-983C7EAFAE86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AB9B51-CA77-4B27-B340-187DCF0681BF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1C9962-40C6-435C-B2DE-BEAFCD256C32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⑦ 결과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809F94-3264-497D-87BA-2E295CFBAA6F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9150" y="1430482"/>
            <a:ext cx="4362450" cy="475903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7B6289C-281C-48B6-83CD-3183164D39FE}"/>
              </a:ext>
            </a:extLst>
          </p:cNvPr>
          <p:cNvSpPr>
            <a:spLocks noGrp="1"/>
          </p:cNvSpPr>
          <p:nvPr/>
        </p:nvSpPr>
        <p:spPr>
          <a:xfrm>
            <a:off x="5886450" y="1504950"/>
            <a:ext cx="5353050" cy="10668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CB1A25-DF03-449C-9534-9DC32F34A3D7}"/>
              </a:ext>
            </a:extLst>
          </p:cNvPr>
          <p:cNvSpPr>
            <a:spLocks noGrp="1"/>
          </p:cNvSpPr>
          <p:nvPr/>
        </p:nvSpPr>
        <p:spPr>
          <a:xfrm>
            <a:off x="5886450" y="1504950"/>
            <a:ext cx="66675" cy="10668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40878C-8255-4A53-B8A6-B010996DE9E8}"/>
              </a:ext>
            </a:extLst>
          </p:cNvPr>
          <p:cNvSpPr>
            <a:spLocks noGrp="1"/>
          </p:cNvSpPr>
          <p:nvPr/>
        </p:nvSpPr>
        <p:spPr>
          <a:xfrm>
            <a:off x="6076950" y="1657350"/>
            <a:ext cx="5010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시연 입력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E2CE81-414D-4B26-B558-8B33C12CE005}"/>
              </a:ext>
            </a:extLst>
          </p:cNvPr>
          <p:cNvSpPr>
            <a:spLocks noGrp="1"/>
          </p:cNvSpPr>
          <p:nvPr/>
        </p:nvSpPr>
        <p:spPr>
          <a:xfrm>
            <a:off x="6076950" y="1981200"/>
            <a:ext cx="5010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출발지: 황리단길</a:t>
            </a:r>
          </a:p>
          <a:p>
            <a:pPr algn="l">
              <a:defRPr sz="1163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방문 장소: 교촌한옥마을, 동궁과 월지, 월정교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7CEED4-FD84-4B7B-BD19-52AFFFAF1C60}"/>
              </a:ext>
            </a:extLst>
          </p:cNvPr>
          <p:cNvSpPr>
            <a:spLocks noGrp="1"/>
          </p:cNvSpPr>
          <p:nvPr/>
        </p:nvSpPr>
        <p:spPr>
          <a:xfrm>
            <a:off x="5886450" y="2857500"/>
            <a:ext cx="5353050" cy="1066800"/>
          </a:xfrm>
          <a:prstGeom prst="rect">
            <a:avLst/>
          </a:prstGeom>
          <a:solidFill>
            <a:srgbClr val="FFFDF7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F602B71-5428-4B8C-B0F4-51B7BD403740}"/>
              </a:ext>
            </a:extLst>
          </p:cNvPr>
          <p:cNvSpPr>
            <a:spLocks noGrp="1"/>
          </p:cNvSpPr>
          <p:nvPr/>
        </p:nvSpPr>
        <p:spPr>
          <a:xfrm>
            <a:off x="5886450" y="2857500"/>
            <a:ext cx="66675" cy="10668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1360D46-670A-4A77-B475-E7E1AC1EF576}"/>
              </a:ext>
            </a:extLst>
          </p:cNvPr>
          <p:cNvSpPr>
            <a:spLocks noGrp="1"/>
          </p:cNvSpPr>
          <p:nvPr/>
        </p:nvSpPr>
        <p:spPr>
          <a:xfrm>
            <a:off x="6076950" y="3009900"/>
            <a:ext cx="5010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최적 코스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BF59DA-B2FA-4703-98DD-CF78C0670FCA}"/>
              </a:ext>
            </a:extLst>
          </p:cNvPr>
          <p:cNvSpPr>
            <a:spLocks noGrp="1"/>
          </p:cNvSpPr>
          <p:nvPr/>
        </p:nvSpPr>
        <p:spPr>
          <a:xfrm>
            <a:off x="6076950" y="3333750"/>
            <a:ext cx="5010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황리단길 → 동궁과 월지 → 월정교 → 교촌한옥마을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D98495-BDB2-46B7-A068-81A8DAC71D96}"/>
              </a:ext>
            </a:extLst>
          </p:cNvPr>
          <p:cNvSpPr>
            <a:spLocks noGrp="1"/>
          </p:cNvSpPr>
          <p:nvPr/>
        </p:nvSpPr>
        <p:spPr>
          <a:xfrm>
            <a:off x="5886450" y="4248150"/>
            <a:ext cx="1714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47B88F2-9704-472A-9E31-D3615166846F}"/>
              </a:ext>
            </a:extLst>
          </p:cNvPr>
          <p:cNvSpPr>
            <a:spLocks noGrp="1"/>
          </p:cNvSpPr>
          <p:nvPr/>
        </p:nvSpPr>
        <p:spPr>
          <a:xfrm>
            <a:off x="6038850" y="4381500"/>
            <a:ext cx="1409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64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64A"/>
                </a:solidFill>
                <a:latin typeface="Aptos Display"/>
                <a:ea typeface="Aptos Display"/>
                <a:cs typeface="Aptos Display"/>
              </a:rPr>
              <a:t>2.48km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0C582A-1899-493A-A3EA-766A27031CCE}"/>
              </a:ext>
            </a:extLst>
          </p:cNvPr>
          <p:cNvSpPr>
            <a:spLocks noGrp="1"/>
          </p:cNvSpPr>
          <p:nvPr/>
        </p:nvSpPr>
        <p:spPr>
          <a:xfrm>
            <a:off x="6038850" y="47434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최적 거리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804542-536F-4238-A5BC-BD608540A506}"/>
              </a:ext>
            </a:extLst>
          </p:cNvPr>
          <p:cNvSpPr>
            <a:spLocks noGrp="1"/>
          </p:cNvSpPr>
          <p:nvPr/>
        </p:nvSpPr>
        <p:spPr>
          <a:xfrm>
            <a:off x="7848600" y="4248150"/>
            <a:ext cx="1714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2447075-8BF7-4571-B64B-32A6DA81F458}"/>
              </a:ext>
            </a:extLst>
          </p:cNvPr>
          <p:cNvSpPr>
            <a:spLocks noGrp="1"/>
          </p:cNvSpPr>
          <p:nvPr/>
        </p:nvSpPr>
        <p:spPr>
          <a:xfrm>
            <a:off x="8001000" y="4381500"/>
            <a:ext cx="1409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5D4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95D47"/>
                </a:solidFill>
                <a:latin typeface="Aptos Display"/>
                <a:ea typeface="Aptos Display"/>
                <a:cs typeface="Aptos Display"/>
              </a:rPr>
              <a:t>16.69%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74F124-814B-4CB3-A2E0-8E168FC1D458}"/>
              </a:ext>
            </a:extLst>
          </p:cNvPr>
          <p:cNvSpPr>
            <a:spLocks noGrp="1"/>
          </p:cNvSpPr>
          <p:nvPr/>
        </p:nvSpPr>
        <p:spPr>
          <a:xfrm>
            <a:off x="8001000" y="47434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개선율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99B17F-A3A0-451C-A1BE-D547C1373DA4}"/>
              </a:ext>
            </a:extLst>
          </p:cNvPr>
          <p:cNvSpPr>
            <a:spLocks noGrp="1"/>
          </p:cNvSpPr>
          <p:nvPr/>
        </p:nvSpPr>
        <p:spPr>
          <a:xfrm>
            <a:off x="9810750" y="4248150"/>
            <a:ext cx="1428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C2D0C6-5BD5-4714-84FE-EA26FAE9346A}"/>
              </a:ext>
            </a:extLst>
          </p:cNvPr>
          <p:cNvSpPr>
            <a:spLocks noGrp="1"/>
          </p:cNvSpPr>
          <p:nvPr/>
        </p:nvSpPr>
        <p:spPr>
          <a:xfrm>
            <a:off x="9963150" y="4381500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86FA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86FA4"/>
                </a:solidFill>
                <a:latin typeface="Aptos Display"/>
                <a:ea typeface="Aptos Display"/>
                <a:cs typeface="Aptos Display"/>
              </a:rPr>
              <a:t>2.98km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73F3A0C-0DDC-42E5-8706-C1B0478802DA}"/>
              </a:ext>
            </a:extLst>
          </p:cNvPr>
          <p:cNvSpPr>
            <a:spLocks noGrp="1"/>
          </p:cNvSpPr>
          <p:nvPr/>
        </p:nvSpPr>
        <p:spPr>
          <a:xfrm>
            <a:off x="9963150" y="474345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기존 거리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B6BEF9E-B397-4971-B63C-C7A8D62EA56E}"/>
              </a:ext>
            </a:extLst>
          </p:cNvPr>
          <p:cNvSpPr>
            <a:spLocks noGrp="1"/>
          </p:cNvSpPr>
          <p:nvPr/>
        </p:nvSpPr>
        <p:spPr>
          <a:xfrm>
            <a:off x="5886450" y="5314950"/>
            <a:ext cx="535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코스 유형: 감성 데이트 코스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A1E9188-03C3-45D3-846E-C3148673DD7D}"/>
              </a:ext>
            </a:extLst>
          </p:cNvPr>
          <p:cNvSpPr>
            <a:spLocks noGrp="1"/>
          </p:cNvSpPr>
          <p:nvPr/>
        </p:nvSpPr>
        <p:spPr>
          <a:xfrm>
            <a:off x="5886450" y="5638800"/>
            <a:ext cx="5353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결과 화면은 Streamlit 실행 화면이며, 경로 계산은 최신 route_optimizer.py의 좌표 기반 Dijkstra + Greedy 방식입니다.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416454-AEC3-47A5-8FDD-0DDF7BB1B453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Streamlit 시연 화면 캡처</a:t>
            </a:r>
          </a:p>
        </p:txBody>
      </p:sp>
    </p:spTree>
    <p:extLst>
      <p:ext uri="{BB962C8B-B14F-4D97-AF65-F5344CB8AC3E}">
        <p14:creationId xmlns:p14="http://schemas.microsoft.com/office/powerpoint/2010/main" val="1435406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A1F489DD-7839-4BD8-BA56-EB69D8CDA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09EFD3-1DE2-4D25-B449-41B5CD0818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8A4AB56-EFFE-4352-866D-DFD93DB60751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1F1D9D-BEEA-44BE-9DD7-CD125B2BF88C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한계점은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실제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데이터와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지도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기반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확장으로</a:t>
            </a:r>
            <a:r>
              <a:rPr lang="ko-KR" altLang="en-US"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보완합니다</a:t>
            </a:r>
            <a:endParaRPr sz="2475" b="1" dirty="0">
              <a:solidFill>
                <a:srgbClr val="18251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AEAF9AA-8E12-4B90-AB82-32267F029008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B94FEE-E0CB-404F-9771-4C38C8B3141F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CCFBA8-7E9A-4CFB-AEC6-FFC05459416E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보완 방향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1EF5B6-37D3-4AFB-A019-D66303490BF5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598E76-9347-498E-9A7A-8E94D1F7778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5223B7-0C5E-4561-8EF6-79C58F2B83A9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76200" cy="142875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968397-640F-444B-9C57-25160E6DB7F9}"/>
              </a:ext>
            </a:extLst>
          </p:cNvPr>
          <p:cNvSpPr>
            <a:spLocks noGrp="1"/>
          </p:cNvSpPr>
          <p:nvPr/>
        </p:nvSpPr>
        <p:spPr>
          <a:xfrm>
            <a:off x="895350" y="161925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데이터 규모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BCF282-A635-4487-8FA6-367693DCA564}"/>
              </a:ext>
            </a:extLst>
          </p:cNvPr>
          <p:cNvSpPr>
            <a:spLocks noGrp="1"/>
          </p:cNvSpPr>
          <p:nvPr/>
        </p:nvSpPr>
        <p:spPr>
          <a:xfrm>
            <a:off x="895350" y="1981200"/>
            <a:ext cx="466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현재: 더미 사용자와 제한된 장소 데이터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A9CC3B-CCC1-4E07-8D1B-61BC1FC3DC8F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4667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117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보완: 실제 저장, 좋아요, 리뷰 로그 누적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08DC64-CA29-4ED3-9DFB-8020D50F4845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07CDF5-DB2B-42D5-9EE8-202188032D39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76200" cy="142875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7901E7A-F19C-4651-819D-A9F71C17FE54}"/>
              </a:ext>
            </a:extLst>
          </p:cNvPr>
          <p:cNvSpPr>
            <a:spLocks noGrp="1"/>
          </p:cNvSpPr>
          <p:nvPr/>
        </p:nvSpPr>
        <p:spPr>
          <a:xfrm>
            <a:off x="6610350" y="161925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신규 사용자 문제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D3C5931-5A0F-4BD4-9109-68035CAD7D90}"/>
              </a:ext>
            </a:extLst>
          </p:cNvPr>
          <p:cNvSpPr>
            <a:spLocks noGrp="1"/>
          </p:cNvSpPr>
          <p:nvPr/>
        </p:nvSpPr>
        <p:spPr>
          <a:xfrm>
            <a:off x="6610350" y="1981200"/>
            <a:ext cx="466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현재: 좋아요 기록이 없으면 CF 적용이 어려움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C43911-08AF-44EB-BFFD-7A5E3C0652C9}"/>
              </a:ext>
            </a:extLst>
          </p:cNvPr>
          <p:cNvSpPr>
            <a:spLocks noGrp="1"/>
          </p:cNvSpPr>
          <p:nvPr/>
        </p:nvSpPr>
        <p:spPr>
          <a:xfrm>
            <a:off x="6610350" y="2419350"/>
            <a:ext cx="4667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1">
                <a:solidFill>
                  <a:srgbClr val="D99A2B"/>
                </a:solidFill>
                <a:latin typeface="Aptos"/>
                <a:ea typeface="Aptos"/>
                <a:cs typeface="Aptos"/>
              </a:defRPr>
            </a:pPr>
            <a:r>
              <a:rPr sz="1170" b="1">
                <a:solidFill>
                  <a:srgbClr val="D99A2B"/>
                </a:solidFill>
                <a:latin typeface="Aptos"/>
                <a:ea typeface="Aptos"/>
                <a:cs typeface="Aptos"/>
              </a:rPr>
              <a:t>보완: 초기 선호 키워드와 인기 장소 추천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F42A0F-E7FD-413D-8D31-8F035F1624AF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1E012F-9C6F-4096-87C7-BA6C912578C5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76200" cy="142875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663CF6-490F-4A7C-81A3-DCA3C170BC1C}"/>
              </a:ext>
            </a:extLst>
          </p:cNvPr>
          <p:cNvSpPr>
            <a:spLocks noGrp="1"/>
          </p:cNvSpPr>
          <p:nvPr/>
        </p:nvSpPr>
        <p:spPr>
          <a:xfrm>
            <a:off x="895350" y="352425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이동 거리 계산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08007CB-7C84-4F4E-A56C-08E7A883EA9D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466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현재: 좌표 기반 직선거리라 실제 이동과 차이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6389214-DAE3-4140-881A-1E39C6375F62}"/>
              </a:ext>
            </a:extLst>
          </p:cNvPr>
          <p:cNvSpPr>
            <a:spLocks noGrp="1"/>
          </p:cNvSpPr>
          <p:nvPr/>
        </p:nvSpPr>
        <p:spPr>
          <a:xfrm>
            <a:off x="895350" y="4324350"/>
            <a:ext cx="4667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1">
                <a:solidFill>
                  <a:srgbClr val="386FA4"/>
                </a:solidFill>
                <a:latin typeface="Aptos"/>
                <a:ea typeface="Aptos"/>
                <a:cs typeface="Aptos"/>
              </a:defRPr>
            </a:pPr>
            <a:r>
              <a:rPr sz="1170" b="1">
                <a:solidFill>
                  <a:srgbClr val="386FA4"/>
                </a:solidFill>
                <a:latin typeface="Aptos"/>
                <a:ea typeface="Aptos"/>
                <a:cs typeface="Aptos"/>
              </a:rPr>
              <a:t>보완: 지도 API로 실제 이동 시간 반영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05A5254-3CFD-41C2-BB02-569CCBC93D51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5772D5-3D21-4D58-BF71-E91E358CCF4D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76200" cy="1428750"/>
          </a:xfrm>
          <a:prstGeom prst="rect">
            <a:avLst/>
          </a:prstGeom>
          <a:solidFill>
            <a:srgbClr val="D95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F4FE491-6D59-4BD5-87D2-36F6E7037682}"/>
              </a:ext>
            </a:extLst>
          </p:cNvPr>
          <p:cNvSpPr>
            <a:spLocks noGrp="1"/>
          </p:cNvSpPr>
          <p:nvPr/>
        </p:nvSpPr>
        <p:spPr>
          <a:xfrm>
            <a:off x="6610350" y="352425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경로 최적화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A025152-8427-43B6-A405-A752A67276CA}"/>
              </a:ext>
            </a:extLst>
          </p:cNvPr>
          <p:cNvSpPr>
            <a:spLocks noGrp="1"/>
          </p:cNvSpPr>
          <p:nvPr/>
        </p:nvSpPr>
        <p:spPr>
          <a:xfrm>
            <a:off x="6610350" y="3886200"/>
            <a:ext cx="466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현재: Greedy는 항상 전체 최적을 보장하지 않음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73B1AF-A80C-4338-B531-70E5F1851C0E}"/>
              </a:ext>
            </a:extLst>
          </p:cNvPr>
          <p:cNvSpPr>
            <a:spLocks noGrp="1"/>
          </p:cNvSpPr>
          <p:nvPr/>
        </p:nvSpPr>
        <p:spPr>
          <a:xfrm>
            <a:off x="6610350" y="4324350"/>
            <a:ext cx="4667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1">
                <a:solidFill>
                  <a:srgbClr val="D95D47"/>
                </a:solidFill>
                <a:latin typeface="Aptos"/>
                <a:ea typeface="Aptos"/>
                <a:cs typeface="Aptos"/>
              </a:defRPr>
            </a:pPr>
            <a:r>
              <a:rPr sz="1170" b="1">
                <a:solidFill>
                  <a:srgbClr val="D95D47"/>
                </a:solidFill>
                <a:latin typeface="Aptos"/>
                <a:ea typeface="Aptos"/>
                <a:cs typeface="Aptos"/>
              </a:rPr>
              <a:t>보완: TSP, 2-opt, A*로 경로 품질 개선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9F31ED7-F2B6-4429-A009-D61DAE3A2523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99441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33C4AA3-E244-47E8-A8A1-1678F35E4F11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76200" cy="6858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B90C99F-DD87-4C39-BFCE-CDA9D9D21BB7}"/>
              </a:ext>
            </a:extLst>
          </p:cNvPr>
          <p:cNvSpPr>
            <a:spLocks noGrp="1"/>
          </p:cNvSpPr>
          <p:nvPr/>
        </p:nvSpPr>
        <p:spPr>
          <a:xfrm>
            <a:off x="1333500" y="56292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최종 보완 방향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3576866-1676-4F5E-B544-BD1A350082E4}"/>
              </a:ext>
            </a:extLst>
          </p:cNvPr>
          <p:cNvSpPr>
            <a:spLocks noGrp="1"/>
          </p:cNvSpPr>
          <p:nvPr/>
        </p:nvSpPr>
        <p:spPr>
          <a:xfrm>
            <a:off x="3143250" y="5629275"/>
            <a:ext cx="752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7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17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추천 품질은 실제 사용자 로그와 평가 지표로 검증하고, 경로 품질은 실제 이동 시간 기반 그래프로 개선합니다.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C7EFEDF-B1C0-41BB-8DA8-2750BA8E170A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최종 프로토타입 점검 기준</a:t>
            </a:r>
          </a:p>
        </p:txBody>
      </p:sp>
    </p:spTree>
    <p:extLst>
      <p:ext uri="{BB962C8B-B14F-4D97-AF65-F5344CB8AC3E}">
        <p14:creationId xmlns:p14="http://schemas.microsoft.com/office/powerpoint/2010/main" val="489811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10B7647C-1976-4B8D-8011-68E85D9446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C06636-80A4-42C8-91FE-78408629FC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DD7995-F52A-48B8-8B6E-569AE3003D6A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INPUT DATA APPENDIX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35A90B-7F40-48DD-8398-176314BF9334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입력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데이터는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place_id를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공통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키로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연결</a:t>
            </a:r>
            <a:r>
              <a:rPr lang="ko-KR" altLang="en-US"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됩니다</a:t>
            </a:r>
            <a:endParaRPr sz="2475" b="1" dirty="0">
              <a:solidFill>
                <a:srgbClr val="18251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AEB9D7-BE79-4F32-B15F-403AAAF0D7A7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516E2D-B3A0-4A99-B76A-EFBBA9E29BB6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8E4BD6-16EC-4E5D-AF02-C9F7104EE928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④ 입력데이터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E07582-9F11-46CD-902E-3D6D72E052E2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5D5E35-3EB8-4FE6-A114-A1B3A5A16311}"/>
              </a:ext>
            </a:extLst>
          </p:cNvPr>
          <p:cNvSpPr>
            <a:spLocks noGrp="1"/>
          </p:cNvSpPr>
          <p:nvPr/>
        </p:nvSpPr>
        <p:spPr>
          <a:xfrm>
            <a:off x="571500" y="1466850"/>
            <a:ext cx="3429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16854D-0FEB-44D9-B85B-CD4EE7555492}"/>
              </a:ext>
            </a:extLst>
          </p:cNvPr>
          <p:cNvSpPr>
            <a:spLocks noGrp="1"/>
          </p:cNvSpPr>
          <p:nvPr/>
        </p:nvSpPr>
        <p:spPr>
          <a:xfrm>
            <a:off x="571500" y="1466850"/>
            <a:ext cx="66675" cy="11049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59F038-BBA0-4D84-BEF4-972FE263F430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3105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places.json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93CED9-2774-4614-B4A7-7A210C601661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3105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id, name, lat/lng, keywords 저장</a:t>
            </a:r>
          </a:p>
          <a:p>
            <a:pPr algn="l">
              <a:defRPr sz="109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모든 추천 모듈이 참조하는 장소 데이터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687490-6E37-415E-AB3D-32EE876E32F1}"/>
              </a:ext>
            </a:extLst>
          </p:cNvPr>
          <p:cNvSpPr>
            <a:spLocks noGrp="1"/>
          </p:cNvSpPr>
          <p:nvPr/>
        </p:nvSpPr>
        <p:spPr>
          <a:xfrm>
            <a:off x="4381500" y="1466850"/>
            <a:ext cx="3429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3FC9F75-817F-4933-BD75-2AF0F17D8CCA}"/>
              </a:ext>
            </a:extLst>
          </p:cNvPr>
          <p:cNvSpPr>
            <a:spLocks noGrp="1"/>
          </p:cNvSpPr>
          <p:nvPr/>
        </p:nvSpPr>
        <p:spPr>
          <a:xfrm>
            <a:off x="4381500" y="1466850"/>
            <a:ext cx="66675" cy="1104900"/>
          </a:xfrm>
          <a:prstGeom prst="rect">
            <a:avLst/>
          </a:prstGeom>
          <a:solidFill>
            <a:srgbClr val="D99A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9C3155-0964-4DEF-B53A-16CE53751195}"/>
              </a:ext>
            </a:extLst>
          </p:cNvPr>
          <p:cNvSpPr>
            <a:spLocks noGrp="1"/>
          </p:cNvSpPr>
          <p:nvPr/>
        </p:nvSpPr>
        <p:spPr>
          <a:xfrm>
            <a:off x="4572000" y="1676400"/>
            <a:ext cx="3105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users.json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E33CE1-EAFA-456A-BB5F-8F73150BF3F6}"/>
              </a:ext>
            </a:extLst>
          </p:cNvPr>
          <p:cNvSpPr>
            <a:spLocks noGrp="1"/>
          </p:cNvSpPr>
          <p:nvPr/>
        </p:nvSpPr>
        <p:spPr>
          <a:xfrm>
            <a:off x="4572000" y="2000250"/>
            <a:ext cx="3105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사용자 ID와 선호 키워드 저장</a:t>
            </a:r>
          </a:p>
          <a:p>
            <a:pPr algn="l">
              <a:defRPr sz="109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신규 사용자 추천의 초기 입력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CC703A-1D37-4E63-BB6B-D970802CFAEF}"/>
              </a:ext>
            </a:extLst>
          </p:cNvPr>
          <p:cNvSpPr>
            <a:spLocks noGrp="1"/>
          </p:cNvSpPr>
          <p:nvPr/>
        </p:nvSpPr>
        <p:spPr>
          <a:xfrm>
            <a:off x="8191500" y="1466850"/>
            <a:ext cx="3429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EDA737-0990-4E1C-854E-9E992DFF6B81}"/>
              </a:ext>
            </a:extLst>
          </p:cNvPr>
          <p:cNvSpPr>
            <a:spLocks noGrp="1"/>
          </p:cNvSpPr>
          <p:nvPr/>
        </p:nvSpPr>
        <p:spPr>
          <a:xfrm>
            <a:off x="8191500" y="1466850"/>
            <a:ext cx="66675" cy="1104900"/>
          </a:xfrm>
          <a:prstGeom prst="rect">
            <a:avLst/>
          </a:prstGeom>
          <a:solidFill>
            <a:srgbClr val="386F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86A449-8410-416D-B87C-6F9D4638FF8B}"/>
              </a:ext>
            </a:extLst>
          </p:cNvPr>
          <p:cNvSpPr>
            <a:spLocks noGrp="1"/>
          </p:cNvSpPr>
          <p:nvPr/>
        </p:nvSpPr>
        <p:spPr>
          <a:xfrm>
            <a:off x="8382000" y="1676400"/>
            <a:ext cx="3105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user_likes.csv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56698E-B259-4BE0-8B19-3561B98FFD3D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3105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user_id, place_id로 좋아요 기록 저장</a:t>
            </a:r>
          </a:p>
          <a:p>
            <a:pPr algn="l">
              <a:defRPr sz="109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9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CF에서 유사 사용자를 찾는 입력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F8AFFC2-B261-4E2F-95F1-DB654FA24FEE}"/>
              </a:ext>
            </a:extLst>
          </p:cNvPr>
          <p:cNvSpPr>
            <a:spLocks noGrp="1"/>
          </p:cNvSpPr>
          <p:nvPr/>
        </p:nvSpPr>
        <p:spPr>
          <a:xfrm>
            <a:off x="571500" y="2895600"/>
            <a:ext cx="3524250" cy="1809750"/>
          </a:xfrm>
          <a:prstGeom prst="rect">
            <a:avLst/>
          </a:prstGeom>
          <a:solidFill>
            <a:srgbClr val="123224"/>
          </a:solidFill>
          <a:ln w="9525">
            <a:solidFill>
              <a:srgbClr val="315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95614D-1187-4933-98A2-41413DECC3C2}"/>
              </a:ext>
            </a:extLst>
          </p:cNvPr>
          <p:cNvSpPr>
            <a:spLocks noGrp="1"/>
          </p:cNvSpPr>
          <p:nvPr/>
        </p:nvSpPr>
        <p:spPr>
          <a:xfrm>
            <a:off x="742950" y="3048000"/>
            <a:ext cx="3181350" cy="1543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places.json 예시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  "id": 1,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  "name": "황리단길",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  "lat": 35.8362,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  "lng": 129.2181,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  "keywords": ["감성적인", "사진맛집", "데이트"]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5BAFA5-DD1B-4BA9-A589-1A37E7ADC2A1}"/>
              </a:ext>
            </a:extLst>
          </p:cNvPr>
          <p:cNvSpPr>
            <a:spLocks noGrp="1"/>
          </p:cNvSpPr>
          <p:nvPr/>
        </p:nvSpPr>
        <p:spPr>
          <a:xfrm>
            <a:off x="4333875" y="2895600"/>
            <a:ext cx="3524250" cy="1809750"/>
          </a:xfrm>
          <a:prstGeom prst="rect">
            <a:avLst/>
          </a:prstGeom>
          <a:solidFill>
            <a:srgbClr val="123224"/>
          </a:solidFill>
          <a:ln w="9525">
            <a:solidFill>
              <a:srgbClr val="315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017E288-F087-49A4-95E2-C1B430D24ACA}"/>
              </a:ext>
            </a:extLst>
          </p:cNvPr>
          <p:cNvSpPr>
            <a:spLocks noGrp="1"/>
          </p:cNvSpPr>
          <p:nvPr/>
        </p:nvSpPr>
        <p:spPr>
          <a:xfrm>
            <a:off x="4505325" y="3048000"/>
            <a:ext cx="3181350" cy="1543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user_likes.csv 예시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user_id,place_id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1,1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1,2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1,8</a:t>
            </a: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1,10</a:t>
            </a:r>
          </a:p>
          <a:p>
            <a:endParaRPr sz="1028" b="0">
              <a:solidFill>
                <a:srgbClr val="E9F8EC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defRPr>
            </a:pPr>
            <a:r>
              <a:rPr sz="1028" b="0">
                <a:solidFill>
                  <a:srgbClr val="E9F8EC"/>
                </a:solidFill>
                <a:latin typeface="Aptos Mono"/>
                <a:ea typeface="Aptos Mono"/>
                <a:cs typeface="Aptos Mono"/>
              </a:rPr>
              <a:t>recommended_place_ids = [1, 3, 10]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0683F21-DDBC-4B01-8619-C0BBB81948E8}"/>
              </a:ext>
            </a:extLst>
          </p:cNvPr>
          <p:cNvSpPr>
            <a:spLocks noGrp="1"/>
          </p:cNvSpPr>
          <p:nvPr/>
        </p:nvSpPr>
        <p:spPr>
          <a:xfrm>
            <a:off x="8096250" y="2895600"/>
            <a:ext cx="35242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4DFC289-DD11-4105-B799-84EA3A68D556}"/>
              </a:ext>
            </a:extLst>
          </p:cNvPr>
          <p:cNvSpPr>
            <a:spLocks noGrp="1"/>
          </p:cNvSpPr>
          <p:nvPr/>
        </p:nvSpPr>
        <p:spPr>
          <a:xfrm>
            <a:off x="8096250" y="2895600"/>
            <a:ext cx="66675" cy="1809750"/>
          </a:xfrm>
          <a:prstGeom prst="rect">
            <a:avLst/>
          </a:prstGeom>
          <a:solidFill>
            <a:srgbClr val="D95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282E640-EEF6-4228-A450-27C703F388C7}"/>
              </a:ext>
            </a:extLst>
          </p:cNvPr>
          <p:cNvSpPr>
            <a:spLocks noGrp="1"/>
          </p:cNvSpPr>
          <p:nvPr/>
        </p:nvSpPr>
        <p:spPr>
          <a:xfrm>
            <a:off x="8286750" y="310515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모듈별 사용 위치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84C4FD0-B19F-4409-B932-56D067B4214A}"/>
              </a:ext>
            </a:extLst>
          </p:cNvPr>
          <p:cNvSpPr>
            <a:spLocks noGrp="1"/>
          </p:cNvSpPr>
          <p:nvPr/>
        </p:nvSpPr>
        <p:spPr>
          <a:xfrm>
            <a:off x="8286750" y="3429000"/>
            <a:ext cx="32004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CF 추천: user_likes.csv로 유사 사용자 계산</a:t>
            </a:r>
          </a:p>
          <a:p>
            <a:pPr algn="l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키워드 분석: keywords로 TF-IDF, K-Means 수행</a:t>
            </a:r>
          </a:p>
          <a:p>
            <a:pPr algn="l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개인화 추천: place_id별 추천 점수 계산</a:t>
            </a:r>
          </a:p>
          <a:p>
            <a:pPr algn="l">
              <a:defRPr sz="1065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경로 최적화: lat/lng로 거리 그래프 생성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A4876AF-C9DC-4520-A978-955FB0A6E2DC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676525" cy="723900"/>
          </a:xfrm>
          <a:prstGeom prst="rect">
            <a:avLst/>
          </a:prstGeom>
          <a:solidFill>
            <a:srgbClr val="EAF2E5"/>
          </a:solidFill>
          <a:ln w="11430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7625F92-85E4-46A4-B3AB-EC06B5051C64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2447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행동 데이터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66A5B15-1252-4456-8675-8609D38A22E2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24479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user_likes.csv</a:t>
            </a:r>
          </a:p>
          <a:p>
            <a:pPr algn="ctr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좋아요 기록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51C878-6A7D-4540-9864-F1606219B40D}"/>
              </a:ext>
            </a:extLst>
          </p:cNvPr>
          <p:cNvSpPr>
            <a:spLocks noGrp="1"/>
          </p:cNvSpPr>
          <p:nvPr/>
        </p:nvSpPr>
        <p:spPr>
          <a:xfrm>
            <a:off x="3362325" y="5029200"/>
            <a:ext cx="2676525" cy="723900"/>
          </a:xfrm>
          <a:prstGeom prst="rect">
            <a:avLst/>
          </a:prstGeom>
          <a:solidFill>
            <a:srgbClr val="FBF1DA"/>
          </a:solidFill>
          <a:ln w="11430">
            <a:solidFill>
              <a:srgbClr val="D99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CE07E03-FAE6-4C83-8741-08EC5AA73AF2}"/>
              </a:ext>
            </a:extLst>
          </p:cNvPr>
          <p:cNvSpPr>
            <a:spLocks noGrp="1"/>
          </p:cNvSpPr>
          <p:nvPr/>
        </p:nvSpPr>
        <p:spPr>
          <a:xfrm>
            <a:off x="3476625" y="5162550"/>
            <a:ext cx="2447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키워드 데이터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E5443B0-10B3-4814-B265-30E44F2313C2}"/>
              </a:ext>
            </a:extLst>
          </p:cNvPr>
          <p:cNvSpPr>
            <a:spLocks noGrp="1"/>
          </p:cNvSpPr>
          <p:nvPr/>
        </p:nvSpPr>
        <p:spPr>
          <a:xfrm>
            <a:off x="3476625" y="5429250"/>
            <a:ext cx="24479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places.json</a:t>
            </a:r>
          </a:p>
          <a:p>
            <a:pPr algn="ctr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장소별 키워드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18E59F3-D8BC-48B5-9E1C-9E3CD651BBB6}"/>
              </a:ext>
            </a:extLst>
          </p:cNvPr>
          <p:cNvSpPr>
            <a:spLocks noGrp="1"/>
          </p:cNvSpPr>
          <p:nvPr/>
        </p:nvSpPr>
        <p:spPr>
          <a:xfrm>
            <a:off x="6153150" y="5029200"/>
            <a:ext cx="2676525" cy="723900"/>
          </a:xfrm>
          <a:prstGeom prst="rect">
            <a:avLst/>
          </a:prstGeom>
          <a:solidFill>
            <a:srgbClr val="E9F1FA"/>
          </a:solidFill>
          <a:ln w="11430">
            <a:solidFill>
              <a:srgbClr val="386FA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FCE64CA-EF9F-4888-8CA5-D1B5935FC1F5}"/>
              </a:ext>
            </a:extLst>
          </p:cNvPr>
          <p:cNvSpPr>
            <a:spLocks noGrp="1"/>
          </p:cNvSpPr>
          <p:nvPr/>
        </p:nvSpPr>
        <p:spPr>
          <a:xfrm>
            <a:off x="6267450" y="5162550"/>
            <a:ext cx="2447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개인화 점수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13B299-4818-46BA-B234-BE49C44BCA71}"/>
              </a:ext>
            </a:extLst>
          </p:cNvPr>
          <p:cNvSpPr>
            <a:spLocks noGrp="1"/>
          </p:cNvSpPr>
          <p:nvPr/>
        </p:nvSpPr>
        <p:spPr>
          <a:xfrm>
            <a:off x="6267450" y="5429250"/>
            <a:ext cx="24479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place_id + score</a:t>
            </a:r>
          </a:p>
          <a:p>
            <a:pPr algn="ctr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추천 후보 정렬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40F2F6F-9555-4F7A-94BA-07C281B6EC73}"/>
              </a:ext>
            </a:extLst>
          </p:cNvPr>
          <p:cNvSpPr>
            <a:spLocks noGrp="1"/>
          </p:cNvSpPr>
          <p:nvPr/>
        </p:nvSpPr>
        <p:spPr>
          <a:xfrm>
            <a:off x="8943975" y="5029200"/>
            <a:ext cx="2676525" cy="723900"/>
          </a:xfrm>
          <a:prstGeom prst="rect">
            <a:avLst/>
          </a:prstGeom>
          <a:solidFill>
            <a:srgbClr val="FBE8E3"/>
          </a:solidFill>
          <a:ln w="11430">
            <a:solidFill>
              <a:srgbClr val="D95D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19A52EF-11B4-43BF-882E-47DD15B2BFF4}"/>
              </a:ext>
            </a:extLst>
          </p:cNvPr>
          <p:cNvSpPr>
            <a:spLocks noGrp="1"/>
          </p:cNvSpPr>
          <p:nvPr/>
        </p:nvSpPr>
        <p:spPr>
          <a:xfrm>
            <a:off x="9058275" y="5162550"/>
            <a:ext cx="24479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경로 입력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A9464F2-4782-4F89-ACCF-E47DBAAB4B7A}"/>
              </a:ext>
            </a:extLst>
          </p:cNvPr>
          <p:cNvSpPr>
            <a:spLocks noGrp="1"/>
          </p:cNvSpPr>
          <p:nvPr/>
        </p:nvSpPr>
        <p:spPr>
          <a:xfrm>
            <a:off x="9058275" y="5429250"/>
            <a:ext cx="24479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start_place_id</a:t>
            </a:r>
          </a:p>
          <a:p>
            <a:pPr algn="ctr">
              <a:defRPr sz="96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recommended_place_ids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AF78DE6-A3FD-4536-BE6C-84B230724507}"/>
              </a:ext>
            </a:extLst>
          </p:cNvPr>
          <p:cNvSpPr>
            <a:spLocks noGrp="1"/>
          </p:cNvSpPr>
          <p:nvPr/>
        </p:nvSpPr>
        <p:spPr>
          <a:xfrm>
            <a:off x="857250" y="6000750"/>
            <a:ext cx="10477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D4ADC53-2286-4E1B-98F7-A1FA89F64069}"/>
              </a:ext>
            </a:extLst>
          </p:cNvPr>
          <p:cNvSpPr>
            <a:spLocks noGrp="1"/>
          </p:cNvSpPr>
          <p:nvPr/>
        </p:nvSpPr>
        <p:spPr>
          <a:xfrm>
            <a:off x="1066800" y="6105525"/>
            <a:ext cx="10058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1">
                <a:solidFill>
                  <a:srgbClr val="18251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8251D"/>
                </a:solidFill>
                <a:latin typeface="Aptos"/>
                <a:ea typeface="Aptos"/>
                <a:cs typeface="Aptos"/>
              </a:rPr>
              <a:t>데이터 출처: 경주 주요 여행지를 기준으로 팀에서 직접 구성한 프로토타입용 데이터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BF30340-1CF2-4CD5-8112-E1DA13258757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GraphTrip 프로젝트 입력 데이터 예시</a:t>
            </a:r>
          </a:p>
        </p:txBody>
      </p:sp>
    </p:spTree>
    <p:extLst>
      <p:ext uri="{BB962C8B-B14F-4D97-AF65-F5344CB8AC3E}">
        <p14:creationId xmlns:p14="http://schemas.microsoft.com/office/powerpoint/2010/main" val="1186364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>
            <a:extLst>
              <a:ext uri="{FF2B5EF4-FFF2-40B4-BE49-F238E27FC236}">
                <a16:creationId xmlns:a16="http://schemas.microsoft.com/office/drawing/2014/main" id="{E3C87EFB-7745-44E6-AA5D-7B27A4581E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E54CCA-070E-43E3-89CB-D982F31CD9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7A4196-6528-4044-B219-D0F9995F67EF}"/>
              </a:ext>
            </a:extLst>
          </p:cNvPr>
          <p:cNvSpPr>
            <a:spLocks noGrp="1"/>
          </p:cNvSpPr>
          <p:nvPr/>
        </p:nvSpPr>
        <p:spPr>
          <a:xfrm>
            <a:off x="571500" y="304800"/>
            <a:ext cx="247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LESSONS LEARNED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75076F-42D5-44D0-AAED-218BFE625F79}"/>
              </a:ext>
            </a:extLst>
          </p:cNvPr>
          <p:cNvSpPr>
            <a:spLocks noGrp="1"/>
          </p:cNvSpPr>
          <p:nvPr/>
        </p:nvSpPr>
        <p:spPr>
          <a:xfrm>
            <a:off x="571500" y="552450"/>
            <a:ext cx="8572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PMI로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팀원별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구현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경험을</a:t>
            </a:r>
            <a:r>
              <a:rPr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75" b="1" dirty="0" err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정리</a:t>
            </a:r>
            <a:r>
              <a:rPr lang="ko-KR" altLang="en-US" sz="2475" b="1" dirty="0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했습니다</a:t>
            </a:r>
            <a:endParaRPr sz="2475" b="1" dirty="0">
              <a:solidFill>
                <a:srgbClr val="18251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EAA590-7C74-4980-950C-DE91DA6B015E}"/>
              </a:ext>
            </a:extLst>
          </p:cNvPr>
          <p:cNvSpPr>
            <a:spLocks noGrp="1"/>
          </p:cNvSpPr>
          <p:nvPr/>
        </p:nvSpPr>
        <p:spPr>
          <a:xfrm>
            <a:off x="11125200" y="5905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3B8E46-B667-4EFE-8ADD-0CE1B8620A1F}"/>
              </a:ext>
            </a:extLst>
          </p:cNvPr>
          <p:cNvSpPr>
            <a:spLocks noGrp="1"/>
          </p:cNvSpPr>
          <p:nvPr/>
        </p:nvSpPr>
        <p:spPr>
          <a:xfrm>
            <a:off x="9410700" y="400050"/>
            <a:ext cx="16573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B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3DD63D-F047-4332-A28D-96F02DA3BB9E}"/>
              </a:ext>
            </a:extLst>
          </p:cNvPr>
          <p:cNvSpPr>
            <a:spLocks noGrp="1"/>
          </p:cNvSpPr>
          <p:nvPr/>
        </p:nvSpPr>
        <p:spPr>
          <a:xfrm>
            <a:off x="9525000" y="495300"/>
            <a:ext cx="1428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⑧ PMI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D76C8FF-15C4-49F1-A3F4-B2C90DB710C8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11049000" cy="13335"/>
          </a:xfrm>
          <a:prstGeom prst="rect">
            <a:avLst/>
          </a:prstGeom>
          <a:solidFill>
            <a:srgbClr val="E4EB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58D282E-4128-49DC-8C52-EFFF2044CE9A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51435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5802B4-5155-460D-BD86-FEE0AFCEDF5C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76200" cy="180975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48B56C-E299-4A59-8A1A-C665987A3C8D}"/>
              </a:ext>
            </a:extLst>
          </p:cNvPr>
          <p:cNvSpPr>
            <a:spLocks noGrp="1"/>
          </p:cNvSpPr>
          <p:nvPr/>
        </p:nvSpPr>
        <p:spPr>
          <a:xfrm>
            <a:off x="895350" y="154305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이수광 · CF 추천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8D8068-3233-4C3F-AF75-672B1080416B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D53CFE-C850-4AF7-AA18-D4B498E333E2}"/>
              </a:ext>
            </a:extLst>
          </p:cNvPr>
          <p:cNvSpPr>
            <a:spLocks noGrp="1"/>
          </p:cNvSpPr>
          <p:nvPr/>
        </p:nvSpPr>
        <p:spPr>
          <a:xfrm>
            <a:off x="895350" y="198120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7C3A4C-F03A-4730-B4F7-68BABA98645D}"/>
              </a:ext>
            </a:extLst>
          </p:cNvPr>
          <p:cNvSpPr>
            <a:spLocks noGrp="1"/>
          </p:cNvSpPr>
          <p:nvPr/>
        </p:nvSpPr>
        <p:spPr>
          <a:xfrm>
            <a:off x="1257300" y="1951008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CF와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Jaccard로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행동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기반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추천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원리를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구현했습니다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8ED547-582E-49DF-84FD-0C103890D814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1AC871-02D4-470B-817B-423DB0A1E2C0}"/>
              </a:ext>
            </a:extLst>
          </p:cNvPr>
          <p:cNvSpPr>
            <a:spLocks noGrp="1"/>
          </p:cNvSpPr>
          <p:nvPr/>
        </p:nvSpPr>
        <p:spPr>
          <a:xfrm>
            <a:off x="895350" y="236220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3D298F-3546-41BE-B131-EE8D451C655C}"/>
              </a:ext>
            </a:extLst>
          </p:cNvPr>
          <p:cNvSpPr>
            <a:spLocks noGrp="1"/>
          </p:cNvSpPr>
          <p:nvPr/>
        </p:nvSpPr>
        <p:spPr>
          <a:xfrm>
            <a:off x="1257300" y="2337759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입출력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포맷과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평가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기준을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초반에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더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명확히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정하지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못했습니다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26F04B-69D1-458A-ABD2-155AFCF27BA7}"/>
              </a:ext>
            </a:extLst>
          </p:cNvPr>
          <p:cNvSpPr>
            <a:spLocks noGrp="1"/>
          </p:cNvSpPr>
          <p:nvPr/>
        </p:nvSpPr>
        <p:spPr>
          <a:xfrm>
            <a:off x="895350" y="268605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99800E-79DB-447E-8974-DD4FEAFC4BD8}"/>
              </a:ext>
            </a:extLst>
          </p:cNvPr>
          <p:cNvSpPr>
            <a:spLocks noGrp="1"/>
          </p:cNvSpPr>
          <p:nvPr/>
        </p:nvSpPr>
        <p:spPr>
          <a:xfrm>
            <a:off x="895350" y="274320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I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F04DFC-3864-45D9-AACE-4E98B310AF02}"/>
              </a:ext>
            </a:extLst>
          </p:cNvPr>
          <p:cNvSpPr>
            <a:spLocks noGrp="1"/>
          </p:cNvSpPr>
          <p:nvPr/>
        </p:nvSpPr>
        <p:spPr>
          <a:xfrm>
            <a:off x="1257300" y="2713008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CF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결과가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PPR과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경로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최적화로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이어지는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흐름이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인상적이었습니다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D47DB7-B100-4794-BC4B-BEBF7CD27307}"/>
              </a:ext>
            </a:extLst>
          </p:cNvPr>
          <p:cNvSpPr>
            <a:spLocks noGrp="1"/>
          </p:cNvSpPr>
          <p:nvPr/>
        </p:nvSpPr>
        <p:spPr>
          <a:xfrm>
            <a:off x="6381750" y="1390650"/>
            <a:ext cx="51435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5DE2EFD-05E1-498D-8DCF-4EE06B9CBFEB}"/>
              </a:ext>
            </a:extLst>
          </p:cNvPr>
          <p:cNvSpPr>
            <a:spLocks noGrp="1"/>
          </p:cNvSpPr>
          <p:nvPr/>
        </p:nvSpPr>
        <p:spPr>
          <a:xfrm>
            <a:off x="6381750" y="1390650"/>
            <a:ext cx="76200" cy="180975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8C8A6E6-449D-429F-B8E1-D3248F5DD819}"/>
              </a:ext>
            </a:extLst>
          </p:cNvPr>
          <p:cNvSpPr>
            <a:spLocks noGrp="1"/>
          </p:cNvSpPr>
          <p:nvPr/>
        </p:nvSpPr>
        <p:spPr>
          <a:xfrm>
            <a:off x="6610350" y="154305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박종빈 · 키워드 분석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442ACC5-011B-4815-8D40-9C3389FE7B5A}"/>
              </a:ext>
            </a:extLst>
          </p:cNvPr>
          <p:cNvSpPr>
            <a:spLocks noGrp="1"/>
          </p:cNvSpPr>
          <p:nvPr/>
        </p:nvSpPr>
        <p:spPr>
          <a:xfrm>
            <a:off x="6610350" y="192405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2D50897-91FF-492C-93A6-AD86A793DEBB}"/>
              </a:ext>
            </a:extLst>
          </p:cNvPr>
          <p:cNvSpPr>
            <a:spLocks noGrp="1"/>
          </p:cNvSpPr>
          <p:nvPr/>
        </p:nvSpPr>
        <p:spPr>
          <a:xfrm>
            <a:off x="6610350" y="198120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32126C5-1167-4A39-9325-10651AAA13A4}"/>
              </a:ext>
            </a:extLst>
          </p:cNvPr>
          <p:cNvSpPr>
            <a:spLocks noGrp="1"/>
          </p:cNvSpPr>
          <p:nvPr/>
        </p:nvSpPr>
        <p:spPr>
          <a:xfrm>
            <a:off x="6972300" y="1945257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TF-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IDF와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K-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Means로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키워드를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추천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가중치로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바꿨습니다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0401AF3-B512-488E-A2ED-72497F8C7861}"/>
              </a:ext>
            </a:extLst>
          </p:cNvPr>
          <p:cNvSpPr>
            <a:spLocks noGrp="1"/>
          </p:cNvSpPr>
          <p:nvPr/>
        </p:nvSpPr>
        <p:spPr>
          <a:xfrm>
            <a:off x="6610350" y="230505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957440B-75FF-4876-BEA2-21DCC8A8A466}"/>
              </a:ext>
            </a:extLst>
          </p:cNvPr>
          <p:cNvSpPr>
            <a:spLocks noGrp="1"/>
          </p:cNvSpPr>
          <p:nvPr/>
        </p:nvSpPr>
        <p:spPr>
          <a:xfrm>
            <a:off x="6610350" y="236220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32F5E86-B7E3-4CAB-ADF8-FC239E2E21F9}"/>
              </a:ext>
            </a:extLst>
          </p:cNvPr>
          <p:cNvSpPr>
            <a:spLocks noGrp="1"/>
          </p:cNvSpPr>
          <p:nvPr/>
        </p:nvSpPr>
        <p:spPr>
          <a:xfrm>
            <a:off x="6972300" y="2337759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부스팅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배율과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대용량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처리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방식을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충분히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검증하지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못했습니다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3ECEAEB-8BFF-42C0-AA22-A1D7EAE89052}"/>
              </a:ext>
            </a:extLst>
          </p:cNvPr>
          <p:cNvSpPr>
            <a:spLocks noGrp="1"/>
          </p:cNvSpPr>
          <p:nvPr/>
        </p:nvSpPr>
        <p:spPr>
          <a:xfrm>
            <a:off x="6610350" y="268605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21E3F8F-5D23-4995-91D8-0C08F3717A69}"/>
              </a:ext>
            </a:extLst>
          </p:cNvPr>
          <p:cNvSpPr>
            <a:spLocks noGrp="1"/>
          </p:cNvSpPr>
          <p:nvPr/>
        </p:nvSpPr>
        <p:spPr>
          <a:xfrm>
            <a:off x="6610350" y="274320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I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B2C2F71-89C2-4A6A-8DB2-05C73E524BB5}"/>
              </a:ext>
            </a:extLst>
          </p:cNvPr>
          <p:cNvSpPr>
            <a:spLocks noGrp="1"/>
          </p:cNvSpPr>
          <p:nvPr/>
        </p:nvSpPr>
        <p:spPr>
          <a:xfrm>
            <a:off x="6972300" y="2713008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자연어 키워드가 수치 점수로 바뀌는 과정이 흥미로웠습니다.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3010E27-841D-42E3-8ECE-A4BEE12CA1B7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51435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01A6CD5-BED9-48E5-B562-84B9720B3343}"/>
              </a:ext>
            </a:extLst>
          </p:cNvPr>
          <p:cNvSpPr>
            <a:spLocks noGrp="1"/>
          </p:cNvSpPr>
          <p:nvPr/>
        </p:nvSpPr>
        <p:spPr>
          <a:xfrm>
            <a:off x="666750" y="3505200"/>
            <a:ext cx="76200" cy="180975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0467AAE-094B-4E6F-99B2-9F5E44F42B34}"/>
              </a:ext>
            </a:extLst>
          </p:cNvPr>
          <p:cNvSpPr>
            <a:spLocks noGrp="1"/>
          </p:cNvSpPr>
          <p:nvPr/>
        </p:nvSpPr>
        <p:spPr>
          <a:xfrm>
            <a:off x="895350" y="365760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심찬기 · 개인화 추천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791A8B6-D6D7-4A05-B835-B3C3CFD3CC6E}"/>
              </a:ext>
            </a:extLst>
          </p:cNvPr>
          <p:cNvSpPr>
            <a:spLocks noGrp="1"/>
          </p:cNvSpPr>
          <p:nvPr/>
        </p:nvSpPr>
        <p:spPr>
          <a:xfrm>
            <a:off x="895350" y="403860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997D155-50A3-43F5-89F4-37C6CD340245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EFC1CBF-036E-4D3F-9991-C0C1B44E1C38}"/>
              </a:ext>
            </a:extLst>
          </p:cNvPr>
          <p:cNvSpPr>
            <a:spLocks noGrp="1"/>
          </p:cNvSpPr>
          <p:nvPr/>
        </p:nvSpPr>
        <p:spPr>
          <a:xfrm>
            <a:off x="1257300" y="4059807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PPR로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사용자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취향을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장소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그래프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위에서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확산시켰습니다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0BFC01-7D9A-4FBF-AB07-F573DB066C86}"/>
              </a:ext>
            </a:extLst>
          </p:cNvPr>
          <p:cNvSpPr>
            <a:spLocks noGrp="1"/>
          </p:cNvSpPr>
          <p:nvPr/>
        </p:nvSpPr>
        <p:spPr>
          <a:xfrm>
            <a:off x="895350" y="441960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8058137-485B-4AC4-9099-630F65163860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87632B0-BFC9-44BF-99A6-2E7C1D5E9008}"/>
              </a:ext>
            </a:extLst>
          </p:cNvPr>
          <p:cNvSpPr>
            <a:spLocks noGrp="1"/>
          </p:cNvSpPr>
          <p:nvPr/>
        </p:nvSpPr>
        <p:spPr>
          <a:xfrm>
            <a:off x="1257300" y="4452309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Cold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Start와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역할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경계를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초반에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더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구체화하지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못했습니다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5D2ABC6-04A6-4ADD-9B31-136AE8D9064B}"/>
              </a:ext>
            </a:extLst>
          </p:cNvPr>
          <p:cNvSpPr>
            <a:spLocks noGrp="1"/>
          </p:cNvSpPr>
          <p:nvPr/>
        </p:nvSpPr>
        <p:spPr>
          <a:xfrm>
            <a:off x="895350" y="480060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C8DCA4D-4B5D-478D-BBF8-BA7F8C338DE8}"/>
              </a:ext>
            </a:extLst>
          </p:cNvPr>
          <p:cNvSpPr>
            <a:spLocks noGrp="1"/>
          </p:cNvSpPr>
          <p:nvPr/>
        </p:nvSpPr>
        <p:spPr>
          <a:xfrm>
            <a:off x="895350" y="485775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I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27D1533-8CC9-4E18-AFE7-7BA75F14762C}"/>
              </a:ext>
            </a:extLst>
          </p:cNvPr>
          <p:cNvSpPr>
            <a:spLocks noGrp="1"/>
          </p:cNvSpPr>
          <p:nvPr/>
        </p:nvSpPr>
        <p:spPr>
          <a:xfrm>
            <a:off x="1257300" y="4816056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Random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Walk와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PageRank의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연결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관계를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이해한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점이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흥미로웠습니다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BE6E17E-B260-482D-A119-3F52D1216A8C}"/>
              </a:ext>
            </a:extLst>
          </p:cNvPr>
          <p:cNvSpPr>
            <a:spLocks noGrp="1"/>
          </p:cNvSpPr>
          <p:nvPr/>
        </p:nvSpPr>
        <p:spPr>
          <a:xfrm>
            <a:off x="6381750" y="3505200"/>
            <a:ext cx="51435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FF653E8-5F47-45B7-9633-C3F6C0229DB0}"/>
              </a:ext>
            </a:extLst>
          </p:cNvPr>
          <p:cNvSpPr>
            <a:spLocks noGrp="1"/>
          </p:cNvSpPr>
          <p:nvPr/>
        </p:nvSpPr>
        <p:spPr>
          <a:xfrm>
            <a:off x="6381750" y="3505200"/>
            <a:ext cx="76200" cy="1809750"/>
          </a:xfrm>
          <a:prstGeom prst="rect">
            <a:avLst/>
          </a:prstGeom>
          <a:solidFill>
            <a:srgbClr val="2566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5D58C93-7653-42D4-91B3-3B7160170809}"/>
              </a:ext>
            </a:extLst>
          </p:cNvPr>
          <p:cNvSpPr>
            <a:spLocks noGrp="1"/>
          </p:cNvSpPr>
          <p:nvPr/>
        </p:nvSpPr>
        <p:spPr>
          <a:xfrm>
            <a:off x="6610350" y="3657600"/>
            <a:ext cx="466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51D"/>
                </a:solidFill>
                <a:latin typeface="Aptos Display"/>
                <a:ea typeface="Aptos Display"/>
                <a:cs typeface="Aptos Display"/>
              </a:rPr>
              <a:t>최정현 · 경로 최적화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BD10145-A00A-478D-88AC-45E693D719AC}"/>
              </a:ext>
            </a:extLst>
          </p:cNvPr>
          <p:cNvSpPr>
            <a:spLocks noGrp="1"/>
          </p:cNvSpPr>
          <p:nvPr/>
        </p:nvSpPr>
        <p:spPr>
          <a:xfrm>
            <a:off x="6610350" y="403860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06EE348-E8CE-45C8-BBD6-D1E0037B0F7E}"/>
              </a:ext>
            </a:extLst>
          </p:cNvPr>
          <p:cNvSpPr>
            <a:spLocks noGrp="1"/>
          </p:cNvSpPr>
          <p:nvPr/>
        </p:nvSpPr>
        <p:spPr>
          <a:xfrm>
            <a:off x="6610350" y="409575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7A7A0F1-2A96-4444-AB82-05EC6755E665}"/>
              </a:ext>
            </a:extLst>
          </p:cNvPr>
          <p:cNvSpPr>
            <a:spLocks noGrp="1"/>
          </p:cNvSpPr>
          <p:nvPr/>
        </p:nvSpPr>
        <p:spPr>
          <a:xfrm>
            <a:off x="6972300" y="4059807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>
                <a:solidFill>
                  <a:srgbClr val="5F6D63"/>
                </a:solidFill>
                <a:latin typeface="Aptos"/>
                <a:ea typeface="Aptos"/>
                <a:cs typeface="Aptos"/>
              </a:rPr>
              <a:t>Dijkstra와 Greedy로 추천 장소를 실제 여행 코스로 바꿨습니다.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FFA314B-FB06-4E0D-B8D4-EF52D8F2E14D}"/>
              </a:ext>
            </a:extLst>
          </p:cNvPr>
          <p:cNvSpPr>
            <a:spLocks noGrp="1"/>
          </p:cNvSpPr>
          <p:nvPr/>
        </p:nvSpPr>
        <p:spPr>
          <a:xfrm>
            <a:off x="6610350" y="441960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4BA958-F9F3-4BDB-A4C5-CAC75D5976F4}"/>
              </a:ext>
            </a:extLst>
          </p:cNvPr>
          <p:cNvSpPr>
            <a:spLocks noGrp="1"/>
          </p:cNvSpPr>
          <p:nvPr/>
        </p:nvSpPr>
        <p:spPr>
          <a:xfrm>
            <a:off x="6610350" y="447675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023EFFF-613E-4F48-896B-9FA30BF5B080}"/>
              </a:ext>
            </a:extLst>
          </p:cNvPr>
          <p:cNvSpPr>
            <a:spLocks noGrp="1"/>
          </p:cNvSpPr>
          <p:nvPr/>
        </p:nvSpPr>
        <p:spPr>
          <a:xfrm>
            <a:off x="6972300" y="4440807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Greedy와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직선거리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기반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계산은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실제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최적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경로와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차이가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있습니다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A35A003-F53C-4582-B609-BDD038798BBC}"/>
              </a:ext>
            </a:extLst>
          </p:cNvPr>
          <p:cNvSpPr>
            <a:spLocks noGrp="1"/>
          </p:cNvSpPr>
          <p:nvPr/>
        </p:nvSpPr>
        <p:spPr>
          <a:xfrm>
            <a:off x="6610350" y="4800600"/>
            <a:ext cx="247650" cy="247650"/>
          </a:xfrm>
          <a:prstGeom prst="rect">
            <a:avLst/>
          </a:prstGeom>
          <a:solidFill>
            <a:srgbClr val="EEF5EA"/>
          </a:solidFill>
          <a:ln w="9525">
            <a:solidFill>
              <a:srgbClr val="2566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E2507DC-0C77-4F06-91A6-71E810E0A4BA}"/>
              </a:ext>
            </a:extLst>
          </p:cNvPr>
          <p:cNvSpPr>
            <a:spLocks noGrp="1"/>
          </p:cNvSpPr>
          <p:nvPr/>
        </p:nvSpPr>
        <p:spPr>
          <a:xfrm>
            <a:off x="6610350" y="4857750"/>
            <a:ext cx="247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2566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64A"/>
                </a:solidFill>
                <a:latin typeface="Aptos"/>
                <a:ea typeface="Aptos"/>
                <a:cs typeface="Aptos"/>
              </a:rPr>
              <a:t>I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80C7A5A-E8CE-4ACD-867F-98332E8AB37E}"/>
              </a:ext>
            </a:extLst>
          </p:cNvPr>
          <p:cNvSpPr>
            <a:spLocks noGrp="1"/>
          </p:cNvSpPr>
          <p:nvPr/>
        </p:nvSpPr>
        <p:spPr>
          <a:xfrm>
            <a:off x="6972300" y="4827558"/>
            <a:ext cx="428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28" b="0">
                <a:solidFill>
                  <a:srgbClr val="5F6D63"/>
                </a:solidFill>
                <a:latin typeface="Aptos"/>
                <a:ea typeface="Aptos"/>
                <a:cs typeface="Aptos"/>
              </a:defRPr>
            </a:pP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방문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순서만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바꿔도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총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이동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거리가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달라지는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점이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 </a:t>
            </a:r>
            <a:r>
              <a:rPr sz="1028" b="0" dirty="0" err="1">
                <a:solidFill>
                  <a:srgbClr val="5F6D63"/>
                </a:solidFill>
                <a:latin typeface="Aptos"/>
                <a:ea typeface="Aptos"/>
                <a:cs typeface="Aptos"/>
              </a:rPr>
              <a:t>인상적이었습니다</a:t>
            </a:r>
            <a:r>
              <a:rPr sz="1028" b="0" dirty="0">
                <a:solidFill>
                  <a:srgbClr val="5F6D6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7A61671-38DC-4E91-8099-A19A86DA2D2D}"/>
              </a:ext>
            </a:extLst>
          </p:cNvPr>
          <p:cNvSpPr>
            <a:spLocks noGrp="1"/>
          </p:cNvSpPr>
          <p:nvPr/>
        </p:nvSpPr>
        <p:spPr>
          <a:xfrm>
            <a:off x="571500" y="651510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A847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77"/>
                </a:solidFill>
                <a:latin typeface="Aptos"/>
                <a:ea typeface="Aptos"/>
                <a:cs typeface="Aptos"/>
              </a:rPr>
              <a:t>팀원별 PMI 회고 요약</a:t>
            </a:r>
          </a:p>
        </p:txBody>
      </p:sp>
    </p:spTree>
    <p:extLst>
      <p:ext uri="{BB962C8B-B14F-4D97-AF65-F5344CB8AC3E}">
        <p14:creationId xmlns:p14="http://schemas.microsoft.com/office/powerpoint/2010/main" val="14202567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2104</Words>
  <Application>Microsoft Office PowerPoint</Application>
  <DocSecurity>0</DocSecurity>
  <PresentationFormat>와이드스크린</PresentationFormat>
  <Paragraphs>429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정현 최</cp:lastModifiedBy>
  <cp:revision>1</cp:revision>
  <dcterms:created xsi:type="dcterms:W3CDTF">2026-06-12T06:58:53Z</dcterms:created>
  <dcterms:modified xsi:type="dcterms:W3CDTF">2026-06-12T07:04:16Z</dcterms:modified>
</cp:coreProperties>
</file>